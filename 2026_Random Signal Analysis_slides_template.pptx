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handoutMasterIdLst>
    <p:handoutMasterId r:id="rId12"/>
  </p:handoutMasterIdLst>
  <p:sldIdLst>
    <p:sldId id="257" r:id="rId3"/>
    <p:sldId id="258" r:id="rId4"/>
    <p:sldId id="717" r:id="rId5"/>
    <p:sldId id="1565" r:id="rId6"/>
    <p:sldId id="1564" r:id="rId7"/>
    <p:sldId id="1566" r:id="rId8"/>
    <p:sldId id="1567" r:id="rId9"/>
    <p:sldId id="156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3" autoAdjust="0"/>
    <p:restoredTop sz="94411" autoAdjust="0"/>
  </p:normalViewPr>
  <p:slideViewPr>
    <p:cSldViewPr>
      <p:cViewPr varScale="1">
        <p:scale>
          <a:sx n="114" d="100"/>
          <a:sy n="114" d="100"/>
        </p:scale>
        <p:origin x="1260" y="102"/>
      </p:cViewPr>
      <p:guideLst>
        <p:guide orient="horz" pos="2160"/>
        <p:guide pos="28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594"/>
    </p:cViewPr>
  </p:sorter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History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Dr. Zhang Rui, National University of Singapore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ICICS,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45A46-0983-49EE-B847-D9ED3568A9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211222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History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Dr. Zhang Rui, National University of Singapore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ICICS, 2015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9F703-A429-4842-90A0-86AA52BE24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9647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高性能低功耗压控振荡器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尾部电流源，形成差分结构，抑制共模噪声；但引入新噪声，用电容消除；理论上增大调频范围，引入相噪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02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尾部电流源，形成差分结构，抑制共模噪声；但引入新噪声，用电容消除；理论上增大调频范围，引入相噪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299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尾部电流源，形成差分结构，抑制共模噪声；但引入新噪声，用电容消除；理论上增大调频范围，引入相噪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892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尾部电流源，形成差分结构，抑制共模噪声；但引入新噪声，用电容消除；理论上增大调频范围，引入相噪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805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尾部电流源，形成差分结构，抑制共模噪声；但引入新噪声，用电容消除；理论上增大调频范围，引入相噪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901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尾部电流源，形成差分结构，抑制共模噪声；但引入新噪声，用电容消除；理论上增大调频范围，引入相噪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850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A4A6-30F2-46E3-9347-C1E6A5D9567D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E4F50-EC4F-4772-810B-522EF35C9F68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itchFamily="2" charset="2"/>
              <a:buChar char="q"/>
              <a:defRPr/>
            </a:lvl1pPr>
            <a:lvl2pPr marL="742950" indent="-285750">
              <a:buFont typeface="Wingdings" pitchFamily="2" charset="2"/>
              <a:buChar char="Ø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60C7F-B2DF-459F-9A10-4BE44541408A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0B00-D6F1-4831-8AA5-7A62BF1F652D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5DFA-857C-43DB-A119-93F6C0D272F0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18B4-B4C4-473C-A57B-BEB3FE0D06EB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F466B-50C1-45A3-9223-5EE79DF78E20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7FA63-7299-4B44-B615-AA1D2BC334AC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0B2FB-A4BD-4DDE-8170-0D9E90449614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9A28-9CE8-4304-ADEB-BD2E1E64F734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C3CBE-6240-4985-AB2E-FFB698D9D6F8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3150-1A75-4070-B11B-490280C03D25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FC5C-AD2D-4FAB-B986-F0950F878DDF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5F8A-CEE4-442D-A0E8-6A89777637E2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08CF-FA4D-4D2D-806C-FF26A610027C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40EC-79AE-4BAC-9F39-411B9D7904AC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2072-3B48-4AC4-8BFF-91EC1CE90313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2C1E-FD35-457E-A4BF-6EF5FA5D7DED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31713-6A7D-4AE8-B1E1-1BD252639291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8A78-1601-4094-8385-28475DAC93B9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80BB-46A5-4C3D-9640-BB0DBD878558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BDB9-FE11-4D64-BD73-FE65BC910289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631-2B03-4706-969E-BC55D22977FA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DF791-B3B3-46A8-ABBE-3CA120775817}" type="datetime1">
              <a:rPr lang="en-US" altLang="zh-CN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ICC, 2022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55D5-7BF2-429B-8F45-63FF0AFCD23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49205-5531-445D-8790-8028139CE154}" type="datetime1">
              <a:rPr lang="en-US" altLang="zh-CN" smtClean="0"/>
              <a:t>9/4/2026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SG"/>
              <a:t>ICC, 2022 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13AA5-034A-4CF9-A2DF-D79E6691B86E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C1885CB-633F-1DF8-9596-F071BACAFD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601065"/>
            <a:ext cx="9144000" cy="115207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5292C93-852A-D78B-2285-44742693F95C}"/>
              </a:ext>
            </a:extLst>
          </p:cNvPr>
          <p:cNvSpPr/>
          <p:nvPr/>
        </p:nvSpPr>
        <p:spPr>
          <a:xfrm>
            <a:off x="0" y="2200869"/>
            <a:ext cx="9144000" cy="145672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2" name="直接连接符 11"/>
          <p:cNvCxnSpPr/>
          <p:nvPr/>
        </p:nvCxnSpPr>
        <p:spPr>
          <a:xfrm>
            <a:off x="2282428" y="2200869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92605" y="2640693"/>
            <a:ext cx="7958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Stochastic Signal Analysis Project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8195" y="3657600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7158" y="6858000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638763" y="6858000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98" y="525755"/>
            <a:ext cx="1143001" cy="11373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5A3233B-FE13-8D97-28CF-DDC6F18603E8}"/>
              </a:ext>
            </a:extLst>
          </p:cNvPr>
          <p:cNvSpPr txBox="1"/>
          <p:nvPr/>
        </p:nvSpPr>
        <p:spPr>
          <a:xfrm>
            <a:off x="1577867" y="4343400"/>
            <a:ext cx="6019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name (if any) and members</a:t>
            </a:r>
          </a:p>
          <a:p>
            <a:pPr algn="ctr"/>
            <a:endParaRPr lang="en-US" altLang="zh-CN" b="1" dirty="0">
              <a:solidFill>
                <a:srgbClr val="164C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164C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Glasgow College</a:t>
            </a:r>
          </a:p>
          <a:p>
            <a:pPr algn="ctr"/>
            <a:r>
              <a:rPr lang="en-US" altLang="zh-CN" b="1" dirty="0">
                <a:solidFill>
                  <a:srgbClr val="164C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Electronic Science and Technology of China</a:t>
            </a:r>
          </a:p>
          <a:p>
            <a:pPr algn="ctr"/>
            <a:endParaRPr lang="en-US" altLang="zh-CN" b="1" dirty="0">
              <a:solidFill>
                <a:srgbClr val="164C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20XX/XX/XX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857250"/>
            <a:ext cx="2939644" cy="5143500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84B379C-879F-F1C2-38AE-428A49E407C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2" y="3343997"/>
            <a:ext cx="8048065" cy="23212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7350" y="2905747"/>
            <a:ext cx="255548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405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405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357821" y="1454454"/>
            <a:ext cx="347605" cy="1874886"/>
            <a:chOff x="5855368" y="980316"/>
            <a:chExt cx="463473" cy="2499848"/>
          </a:xfrm>
          <a:solidFill>
            <a:srgbClr val="00457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5855368" y="980316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855368" y="1968976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855368" y="3016691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838877" y="2959329"/>
            <a:ext cx="44396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Project Tasks and Evaluation Metrics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838878" y="1434752"/>
            <a:ext cx="46712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Background and Problem Statement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838877" y="2173975"/>
            <a:ext cx="52409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Dataset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480" y="-1148"/>
            <a:ext cx="862627" cy="858398"/>
          </a:xfrm>
          <a:prstGeom prst="rect">
            <a:avLst/>
          </a:prstGeom>
        </p:spPr>
      </p:pic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3357821" y="3767548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779318" y="3722059"/>
            <a:ext cx="486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Proposed Methods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A22385B-8F7C-4BEF-9928-B8B7546490F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360617" y="4484680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9BB9C4-033B-458D-8054-43049B914D1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782114" y="4439191"/>
            <a:ext cx="486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Evaluation and Results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3751469-66BA-4CF0-837A-0D75B5867CA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357821" y="5222624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385BD-7955-4A16-BEBC-41CC740C1C0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779318" y="5177135"/>
            <a:ext cx="486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1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Background and Problem Statement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C9C26-5425-40D3-9CD0-D25288EE402D}"/>
              </a:ext>
            </a:extLst>
          </p:cNvPr>
          <p:cNvSpPr/>
          <p:nvPr/>
        </p:nvSpPr>
        <p:spPr>
          <a:xfrm>
            <a:off x="2286000" y="2967335"/>
            <a:ext cx="518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0033CC"/>
                </a:solidFill>
                <a:cs typeface="Times New Roman" panose="02020603050405020304" pitchFamily="18" charset="0"/>
                <a:sym typeface="+mn-lt"/>
              </a:rPr>
              <a:t>Briefly introduce tropical-depression analysis and define your research question and motivation.</a:t>
            </a:r>
            <a:endParaRPr lang="en-GB" altLang="zh-CN" dirty="0">
              <a:solidFill>
                <a:srgbClr val="0033CC"/>
              </a:solidFill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466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2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66627" y="4267200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Dataset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C9C26-5425-40D3-9CD0-D25288EE402D}"/>
              </a:ext>
            </a:extLst>
          </p:cNvPr>
          <p:cNvSpPr/>
          <p:nvPr/>
        </p:nvSpPr>
        <p:spPr>
          <a:xfrm>
            <a:off x="2198594" y="1392940"/>
            <a:ext cx="518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0033CC"/>
                </a:solidFill>
                <a:cs typeface="Times New Roman" panose="02020603050405020304" pitchFamily="18" charset="0"/>
                <a:sym typeface="+mn-lt"/>
              </a:rPr>
              <a:t>Describe the data modalities, used channels, labels or targets, data split, preprocessing, and known limitations.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2A1BBF-DD97-4143-9EEA-DD1F547E84A3}"/>
              </a:ext>
            </a:extLst>
          </p:cNvPr>
          <p:cNvSpPr txBox="1"/>
          <p:nvPr/>
        </p:nvSpPr>
        <p:spPr>
          <a:xfrm>
            <a:off x="1024861" y="5090025"/>
            <a:ext cx="2933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effectLst/>
                <a:ea typeface="DengXian" panose="02010600030101010101" pitchFamily="2" charset="-122"/>
              </a:rPr>
              <a:t>Fig. 1: Example infrared input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307C2B-381C-44D5-ADF9-7F22F604A774}"/>
              </a:ext>
            </a:extLst>
          </p:cNvPr>
          <p:cNvSpPr txBox="1"/>
          <p:nvPr/>
        </p:nvSpPr>
        <p:spPr>
          <a:xfrm>
            <a:off x="5102100" y="5086984"/>
            <a:ext cx="3216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ea typeface="DengXian" panose="02010600030101010101" pitchFamily="2" charset="-122"/>
              </a:rPr>
              <a:t>Fig. 2: Example microwave input</a:t>
            </a:r>
            <a:endParaRPr lang="zh-CN" altLang="en-US" dirty="0"/>
          </a:p>
        </p:txBody>
      </p:sp>
      <p:sp>
        <p:nvSpPr>
          <p:cNvPr id="11" name="圆角矩形 21">
            <a:extLst>
              <a:ext uri="{FF2B5EF4-FFF2-40B4-BE49-F238E27FC236}">
                <a16:creationId xmlns:a16="http://schemas.microsoft.com/office/drawing/2014/main" id="{F1E56F60-A17A-4969-9C62-BE828427A42C}"/>
              </a:ext>
            </a:extLst>
          </p:cNvPr>
          <p:cNvSpPr/>
          <p:nvPr/>
        </p:nvSpPr>
        <p:spPr>
          <a:xfrm>
            <a:off x="825500" y="2760831"/>
            <a:ext cx="7492999" cy="272579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 descr="E:\TD_detection\dataset\Single_Sourse_Singel_Frame\AHI_6h_reversed_nor_wanzheng\pngshow_yolo_fixedsize\NWP1609_MINDULLE_1_2016081818_13_16.6_143.1_NWP1610_LIONROCK_2_2016081818_13_32.2_146.8_NWP1611_KOMPASU_0_2016081818_13_24.1_153.4.png">
            <a:extLst>
              <a:ext uri="{FF2B5EF4-FFF2-40B4-BE49-F238E27FC236}">
                <a16:creationId xmlns:a16="http://schemas.microsoft.com/office/drawing/2014/main" id="{FB68647E-67FB-4ACE-AC6D-D929D758E49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91090"/>
            <a:ext cx="1590675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4FD4E57-17DC-4233-8119-A6217992BE29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00" y="2941979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A30DD86-FCF4-4D77-9ADD-F983EA483217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941979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31E80A0-E533-406B-9E8F-2F5FBF578873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392" y="2942171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B2EFE5-FE14-4B47-AAEB-A914DFB7FE92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545" y="2941979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0788151-9043-4755-A9B9-217AC64521EE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743" y="3883606"/>
            <a:ext cx="899358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01A2245-C253-427A-8F1F-43C82FE8F253}"/>
              </a:ext>
            </a:extLst>
          </p:cNvPr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78646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9831662-CE03-4695-969D-F7DF62CF2206}"/>
              </a:ext>
            </a:extLst>
          </p:cNvPr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98" y="3874321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B196E9C-4394-44F1-AAA6-D782D5C6AF60}"/>
              </a:ext>
            </a:extLst>
          </p:cNvPr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798" y="3883606"/>
            <a:ext cx="900000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833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3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Project Tasks and Evaluation Metrics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C9C26-5425-40D3-9CD0-D25288EE402D}"/>
              </a:ext>
            </a:extLst>
          </p:cNvPr>
          <p:cNvSpPr/>
          <p:nvPr/>
        </p:nvSpPr>
        <p:spPr>
          <a:xfrm>
            <a:off x="2286000" y="2967335"/>
            <a:ext cx="518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0033CC"/>
                </a:solidFill>
                <a:cs typeface="Times New Roman" panose="02020603050405020304" pitchFamily="18" charset="0"/>
                <a:sym typeface="+mn-lt"/>
              </a:rPr>
              <a:t>Explain the task defined by your group and state measurable objectives. Select task-appropriate metrics and justify any threshold or decision rule.</a:t>
            </a:r>
          </a:p>
        </p:txBody>
      </p:sp>
    </p:spTree>
    <p:extLst>
      <p:ext uri="{BB962C8B-B14F-4D97-AF65-F5344CB8AC3E}">
        <p14:creationId xmlns:p14="http://schemas.microsoft.com/office/powerpoint/2010/main" val="254002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4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Proposed Methods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C9C26-5425-40D3-9CD0-D25288EE402D}"/>
              </a:ext>
            </a:extLst>
          </p:cNvPr>
          <p:cNvSpPr/>
          <p:nvPr/>
        </p:nvSpPr>
        <p:spPr>
          <a:xfrm>
            <a:off x="2286000" y="2967335"/>
            <a:ext cx="518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0033CC"/>
                </a:solidFill>
                <a:cs typeface="Times New Roman" panose="02020603050405020304" pitchFamily="18" charset="0"/>
                <a:sym typeface="+mn-lt"/>
              </a:rPr>
              <a:t>Briefly describe the selected statistical, signal-processing, machine-learning, or deep-learning method, including the key design choices. </a:t>
            </a:r>
          </a:p>
        </p:txBody>
      </p:sp>
    </p:spTree>
    <p:extLst>
      <p:ext uri="{BB962C8B-B14F-4D97-AF65-F5344CB8AC3E}">
        <p14:creationId xmlns:p14="http://schemas.microsoft.com/office/powerpoint/2010/main" val="15806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5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Results Analysis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C9C26-5425-40D3-9CD0-D25288EE402D}"/>
              </a:ext>
            </a:extLst>
          </p:cNvPr>
          <p:cNvSpPr/>
          <p:nvPr/>
        </p:nvSpPr>
        <p:spPr>
          <a:xfrm>
            <a:off x="2286000" y="2967335"/>
            <a:ext cx="518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0033CC"/>
                </a:solidFill>
                <a:cs typeface="Times New Roman" panose="02020603050405020304" pitchFamily="18" charset="0"/>
                <a:sym typeface="+mn-lt"/>
              </a:rPr>
              <a:t>Present quantitative and qualitative results, comparisons or ablations, and the main findings related to the stated objectives.</a:t>
            </a:r>
          </a:p>
        </p:txBody>
      </p:sp>
    </p:spTree>
    <p:extLst>
      <p:ext uri="{BB962C8B-B14F-4D97-AF65-F5344CB8AC3E}">
        <p14:creationId xmlns:p14="http://schemas.microsoft.com/office/powerpoint/2010/main" val="297083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6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C9C26-5425-40D3-9CD0-D25288EE402D}"/>
              </a:ext>
            </a:extLst>
          </p:cNvPr>
          <p:cNvSpPr/>
          <p:nvPr/>
        </p:nvSpPr>
        <p:spPr>
          <a:xfrm>
            <a:off x="2286000" y="2967335"/>
            <a:ext cx="518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0033CC"/>
                </a:solidFill>
                <a:cs typeface="Times New Roman" panose="02020603050405020304" pitchFamily="18" charset="0"/>
                <a:sym typeface="+mn-lt"/>
              </a:rPr>
              <a:t>Summarize the selected problem, method, strongest findings, whether the objectives were met, discuss limitations and specific future work.</a:t>
            </a:r>
          </a:p>
        </p:txBody>
      </p:sp>
    </p:spTree>
    <p:extLst>
      <p:ext uri="{BB962C8B-B14F-4D97-AF65-F5344CB8AC3E}">
        <p14:creationId xmlns:p14="http://schemas.microsoft.com/office/powerpoint/2010/main" val="275792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20728</TotalTime>
  <Words>398</Words>
  <Application>Microsoft Office PowerPoint</Application>
  <PresentationFormat>全屏显示(4:3)</PresentationFormat>
  <Paragraphs>55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TimesNewRoman,Bold</vt:lpstr>
      <vt:lpstr>等线</vt:lpstr>
      <vt:lpstr>等线</vt:lpstr>
      <vt:lpstr>宋体</vt:lpstr>
      <vt:lpstr>微软雅黑</vt:lpstr>
      <vt:lpstr>Arial</vt:lpstr>
      <vt:lpstr>Calibri</vt:lpstr>
      <vt:lpstr>Times New Roman</vt:lpstr>
      <vt:lpstr>Wingdings</vt:lpstr>
      <vt:lpstr>Office Theme</vt:lpstr>
      <vt:lpstr>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elezhang</dc:creator>
  <cp:lastModifiedBy>xyj</cp:lastModifiedBy>
  <cp:revision>5735</cp:revision>
  <cp:lastPrinted>2020-06-22T03:21:33Z</cp:lastPrinted>
  <dcterms:created xsi:type="dcterms:W3CDTF">2012-02-15T02:33:00Z</dcterms:created>
  <dcterms:modified xsi:type="dcterms:W3CDTF">2026-09-04T09:04:32Z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2052-10.1.0.5603</vt:lpwstr>
  </property>
</Properties>
</file>