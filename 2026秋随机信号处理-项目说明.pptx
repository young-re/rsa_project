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718" r:id="rId4"/>
    <p:sldId id="736" r:id="rId5"/>
    <p:sldId id="719" r:id="rId6"/>
    <p:sldId id="720" r:id="rId7"/>
    <p:sldId id="722" r:id="rId8"/>
    <p:sldId id="724" r:id="rId9"/>
    <p:sldId id="721" r:id="rId10"/>
    <p:sldId id="725" r:id="rId11"/>
    <p:sldId id="728" r:id="rId12"/>
    <p:sldId id="733" r:id="rId13"/>
    <p:sldId id="734" r:id="rId14"/>
    <p:sldId id="726" r:id="rId15"/>
    <p:sldId id="729" r:id="rId16"/>
    <p:sldId id="730" r:id="rId17"/>
    <p:sldId id="732" r:id="rId18"/>
    <p:sldId id="731" r:id="rId19"/>
    <p:sldId id="723" r:id="rId20"/>
    <p:sldId id="73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82" autoAdjust="0"/>
  </p:normalViewPr>
  <p:slideViewPr>
    <p:cSldViewPr snapToGrid="0">
      <p:cViewPr varScale="1">
        <p:scale>
          <a:sx n="100" d="100"/>
          <a:sy n="100" d="100"/>
        </p:scale>
        <p:origin x="18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B1AFB-9734-4BD7-9A57-BF8A4A89031F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F31A-DF55-4E19-92F2-0364EC09C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542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首先对课程项目的基本情况和要求再做一下介绍。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02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首先对课程项目的基本情况和要求再做一下介绍。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680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为了对应使用的日本气象厅的红外和台风最佳路径数据集，</a:t>
            </a:r>
            <a:endParaRPr lang="en-US" altLang="zh-CN" dirty="0"/>
          </a:p>
          <a:p>
            <a:r>
              <a:rPr lang="zh-CN" altLang="en-US" dirty="0"/>
              <a:t>这里使用日本气象厅的台风强度和种类分级标准，</a:t>
            </a:r>
            <a:endParaRPr lang="en-US" altLang="zh-CN" dirty="0"/>
          </a:p>
          <a:p>
            <a:r>
              <a:rPr lang="zh-CN" altLang="en-US" dirty="0"/>
              <a:t>其他国家的分级标准可能有些许区别。</a:t>
            </a:r>
            <a:endParaRPr lang="en-US" altLang="zh-CN" dirty="0"/>
          </a:p>
          <a:p>
            <a:r>
              <a:rPr lang="zh-CN" altLang="en-US" dirty="0"/>
              <a:t>后面会有相应等级的台风示例。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93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原始数据的仪器采集原理和算法原理等可以在对应的链接中查看，都是官方网站，感兴趣的同学可以自己看一下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764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569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977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92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数据集的总体情况。</a:t>
            </a:r>
            <a:endParaRPr lang="en-US" altLang="zh-CN" dirty="0"/>
          </a:p>
          <a:p>
            <a:r>
              <a:rPr lang="zh-CN" altLang="en-US" dirty="0"/>
              <a:t>后面对单帧和多帧、不同标签的定义进行具体的解释。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647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单帧和多帧数据的年份、地理范围、像素大小和空间分辨率相同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884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642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098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可以对</a:t>
            </a:r>
            <a:r>
              <a:rPr lang="en-US" altLang="zh-CN" dirty="0" err="1"/>
              <a:t>bbox</a:t>
            </a:r>
            <a:r>
              <a:rPr lang="zh-CN" altLang="en-US" dirty="0"/>
              <a:t>框的大小作修改，但要提供合理说明。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65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项目不要求超越该效果，只做参考。</a:t>
            </a:r>
          </a:p>
          <a:p>
            <a:r>
              <a:rPr lang="zh-CN" altLang="en-US" dirty="0"/>
              <a:t>小视场：围绕台风中心裁剪出一个固定大小的区域，在该区域内预测台风中心。</a:t>
            </a:r>
            <a:endParaRPr lang="en-US" altLang="zh-CN" dirty="0"/>
          </a:p>
          <a:p>
            <a:r>
              <a:rPr lang="zh-CN" altLang="en-US" dirty="0"/>
              <a:t>目前的台风检测研究主要针对</a:t>
            </a:r>
            <a:r>
              <a:rPr lang="en-US" altLang="zh-CN" dirty="0"/>
              <a:t>TS</a:t>
            </a:r>
            <a:r>
              <a:rPr lang="zh-CN" altLang="en-US" dirty="0"/>
              <a:t>以上等级的台风。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573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346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432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664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525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447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EDDC-2440-4AF2-9D48-6F4C8D938386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07739-2425-4717-87F1-2C84DD3E8E48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3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6608-321F-4D76-BB12-70A420B9FB47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42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705E-7D72-4398-A506-68B3657DF742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85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F7BE6-8562-4B5C-9365-340B35D9CD0F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63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2DCC-C61A-4489-9841-6EFE0B411E52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88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6F8-3513-460A-81A4-48F77D8EA474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2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2E63E-75ED-4333-942E-3F70D8F46A02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12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3ED3-5315-4C8F-A612-8F20DB4CBD3A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85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1EC5-4D3C-488B-A0A9-614D59399101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00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6B97-EEF4-41C6-89DB-B29C4BB765FF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00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4AE33-F8FF-4273-A000-E98EB67E232F}" type="datetime1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E8151-B35D-45DD-998A-9C7243A86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15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ar.nesdis.noaa.gov/jpss/ATMS.php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class.noaa.gov/search/ATMS_TD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jma.go.jp/jma/jma-eng/satellite/index.html" TargetMode="External"/><Relationship Id="rId5" Type="http://schemas.openxmlformats.org/officeDocument/2006/relationships/hyperlink" Target="https://www.eorc.jaxa.jp/ptree/userguide.html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pm.nasa.gov/data/directory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TGRS.2024.3363842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09/IGARSS55030.2025.11243479" TargetMode="Externa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C1885CB-633F-1DF8-9596-F071BACAFDA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01065"/>
            <a:ext cx="9144000" cy="115207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5292C93-852A-D78B-2285-44742693F95C}"/>
              </a:ext>
            </a:extLst>
          </p:cNvPr>
          <p:cNvSpPr/>
          <p:nvPr/>
        </p:nvSpPr>
        <p:spPr>
          <a:xfrm>
            <a:off x="0" y="2200869"/>
            <a:ext cx="9144000" cy="145672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2" name="直接连接符 11"/>
          <p:cNvCxnSpPr/>
          <p:nvPr/>
        </p:nvCxnSpPr>
        <p:spPr>
          <a:xfrm>
            <a:off x="2282428" y="2200869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92605" y="2640693"/>
            <a:ext cx="795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Stochastic Signal Analysis Project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8195" y="3657600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7158" y="6858000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638763" y="6858000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98" y="525755"/>
            <a:ext cx="1143001" cy="11373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5A3233B-FE13-8D97-28CF-DDC6F18603E8}"/>
              </a:ext>
            </a:extLst>
          </p:cNvPr>
          <p:cNvSpPr txBox="1"/>
          <p:nvPr/>
        </p:nvSpPr>
        <p:spPr>
          <a:xfrm>
            <a:off x="1577867" y="4491824"/>
            <a:ext cx="601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b="1" dirty="0">
              <a:solidFill>
                <a:srgbClr val="164C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164C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Glasgow College</a:t>
            </a:r>
          </a:p>
          <a:p>
            <a:pPr algn="ctr"/>
            <a:r>
              <a:rPr lang="en-US" altLang="zh-CN" b="1" dirty="0">
                <a:solidFill>
                  <a:srgbClr val="164C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Electronic Science and Technology of China</a:t>
            </a:r>
          </a:p>
          <a:p>
            <a:pPr algn="ctr"/>
            <a:endParaRPr lang="en-US" altLang="zh-CN" b="1" dirty="0">
              <a:solidFill>
                <a:srgbClr val="164C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2026/9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DAC09-EF10-4690-AC6F-68C80D02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857250"/>
            <a:ext cx="2939644" cy="5143500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84B379C-879F-F1C2-38AE-428A49E407CB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2" y="3343997"/>
            <a:ext cx="8048065" cy="23212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7350" y="2905747"/>
            <a:ext cx="255548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405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405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357821" y="1930859"/>
            <a:ext cx="347605" cy="1874886"/>
            <a:chOff x="5855368" y="980316"/>
            <a:chExt cx="463473" cy="2499848"/>
          </a:xfrm>
          <a:solidFill>
            <a:srgbClr val="00457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5855368" y="980316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855368" y="1968976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855368" y="3016691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838877" y="3435734"/>
            <a:ext cx="44396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3   </a:t>
            </a:r>
            <a:r>
              <a:rPr lang="zh-CN" altLang="en-US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数据集介绍</a:t>
            </a:r>
            <a:endParaRPr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38878" y="1911157"/>
            <a:ext cx="46712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1   </a:t>
            </a:r>
            <a:r>
              <a:rPr lang="zh-CN" altLang="en-US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项目介绍</a:t>
            </a:r>
            <a:endParaRPr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38877" y="2650380"/>
            <a:ext cx="52409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2   </a:t>
            </a:r>
            <a:r>
              <a:rPr lang="zh-CN" altLang="en-US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数据来源介绍</a:t>
            </a: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  </a:t>
            </a:r>
            <a:endParaRPr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185" y="878018"/>
            <a:ext cx="862627" cy="858398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3357821" y="4243953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779318" y="4198464"/>
            <a:ext cx="48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4   </a:t>
            </a:r>
            <a:r>
              <a:rPr lang="zh-CN" altLang="en-US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项目任务拟定参考</a:t>
            </a:r>
            <a:endParaRPr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A53D064-7751-4989-A1CB-A0253695772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57821" y="5052850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ADD3BF-AB49-4EEB-BF20-A20604E06A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779318" y="5007361"/>
            <a:ext cx="48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5   </a:t>
            </a:r>
            <a:r>
              <a:rPr lang="zh-CN" altLang="en-US" sz="2100" b="1" i="1" dirty="0"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其他注意事项</a:t>
            </a:r>
            <a:endParaRPr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1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项目介绍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文本框 9">
            <a:extLst>
              <a:ext uri="{FF2B5EF4-FFF2-40B4-BE49-F238E27FC236}">
                <a16:creationId xmlns:a16="http://schemas.microsoft.com/office/drawing/2014/main" id="{DBA81D25-79FA-4DB4-A3BA-2FDCC957B2B0}"/>
              </a:ext>
            </a:extLst>
          </p:cNvPr>
          <p:cNvSpPr txBox="1"/>
          <p:nvPr/>
        </p:nvSpPr>
        <p:spPr>
          <a:xfrm>
            <a:off x="296093" y="806076"/>
            <a:ext cx="84249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主要任务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：利用多源卫星数据对热带低气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压（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TD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）进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行检测、评估和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或预测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B4D99E0-2FA2-4E63-9F3E-6156EC45D6A0}"/>
              </a:ext>
            </a:extLst>
          </p:cNvPr>
          <p:cNvSpPr txBox="1"/>
          <p:nvPr/>
        </p:nvSpPr>
        <p:spPr>
          <a:xfrm>
            <a:off x="296094" y="4706783"/>
            <a:ext cx="82192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数据视角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使用单一数据；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使用混合数据；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使用额外数据（可能非现成），如额外的台风数据、环境数据（如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SST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将数据视为静态；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将数据视为动态；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背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景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微动态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本框 9">
            <a:extLst>
              <a:ext uri="{FF2B5EF4-FFF2-40B4-BE49-F238E27FC236}">
                <a16:creationId xmlns:a16="http://schemas.microsoft.com/office/drawing/2014/main" id="{F9DC0E55-7F33-4563-B359-05025D38D6BF}"/>
              </a:ext>
            </a:extLst>
          </p:cNvPr>
          <p:cNvSpPr txBox="1"/>
          <p:nvPr/>
        </p:nvSpPr>
        <p:spPr>
          <a:xfrm>
            <a:off x="296094" y="1664474"/>
            <a:ext cx="84249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</a:t>
            </a:r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供材料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：包括数据集（微波、红外等）、参考文献、报告和汇报模板等等。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</a:t>
            </a:r>
            <a:r>
              <a:rPr lang="zh-CN" altLang="en-US" sz="2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经明确许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可，所提供的数据集仅能在本课程中用于课程项目目的，不得用于其他用途。</a:t>
            </a:r>
            <a:endParaRPr lang="en-US" altLang="zh-CN" sz="2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9">
            <a:extLst>
              <a:ext uri="{FF2B5EF4-FFF2-40B4-BE49-F238E27FC236}">
                <a16:creationId xmlns:a16="http://schemas.microsoft.com/office/drawing/2014/main" id="{AE0073A9-A213-455F-A9F5-1B0A060E33F4}"/>
              </a:ext>
            </a:extLst>
          </p:cNvPr>
          <p:cNvSpPr txBox="1"/>
          <p:nvPr/>
        </p:nvSpPr>
        <p:spPr>
          <a:xfrm>
            <a:off x="296094" y="2859714"/>
            <a:ext cx="842493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开放</a:t>
            </a:r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性任务建议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TD</a:t>
            </a:r>
            <a:r>
              <a:rPr lang="zh-CN" altLang="en-US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检测或勾画；</a:t>
            </a:r>
            <a:r>
              <a:rPr lang="en-US" altLang="zh-CN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TD</a:t>
            </a:r>
            <a:r>
              <a:rPr lang="zh-CN" altLang="en-US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变化趋势估计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（应结</a:t>
            </a:r>
            <a:r>
              <a:rPr lang="zh-CN" altLang="en-US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合任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务</a:t>
            </a:r>
            <a:r>
              <a:rPr lang="en-US" altLang="zh-CN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或其他环境数据等）</a:t>
            </a:r>
            <a:r>
              <a:rPr lang="zh-CN" altLang="en-US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TD</a:t>
            </a:r>
            <a:r>
              <a:rPr lang="zh-CN" altLang="en-US" sz="22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真值重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制（可结合任务</a:t>
            </a:r>
            <a:r>
              <a:rPr lang="en-US" altLang="zh-CN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等）；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4. TD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位置（中心）估计；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更早期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TD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比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Day 0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更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早）的检测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从垂直方向的微波图设计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TD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的检测方案；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7.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多任务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合；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其他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5" name="文本框 24">
            <a:extLst>
              <a:ext uri="{FF2B5EF4-FFF2-40B4-BE49-F238E27FC236}">
                <a16:creationId xmlns:a16="http://schemas.microsoft.com/office/drawing/2014/main" id="{1B4D99E0-2FA2-4E63-9F3E-6156EC45D6A0}"/>
              </a:ext>
            </a:extLst>
          </p:cNvPr>
          <p:cNvSpPr txBox="1"/>
          <p:nvPr/>
        </p:nvSpPr>
        <p:spPr>
          <a:xfrm>
            <a:off x="296093" y="5903522"/>
            <a:ext cx="82192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 smtClean="0">
                <a:latin typeface="宋体" panose="02010600030101010101" pitchFamily="2" charset="-122"/>
                <a:ea typeface="宋体" panose="02010600030101010101" pitchFamily="2" charset="-122"/>
              </a:rPr>
              <a:t>技术方案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YOLO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类型；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2. Transformer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类型；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3. DETR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类型；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大语言模型类型；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其他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3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1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项目介绍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3" name="文本框 9">
            <a:extLst>
              <a:ext uri="{FF2B5EF4-FFF2-40B4-BE49-F238E27FC236}">
                <a16:creationId xmlns:a16="http://schemas.microsoft.com/office/drawing/2014/main" id="{DE430ED9-BBCE-4159-94E4-AE0F7968AAB1}"/>
              </a:ext>
            </a:extLst>
          </p:cNvPr>
          <p:cNvSpPr txBox="1"/>
          <p:nvPr/>
        </p:nvSpPr>
        <p:spPr>
          <a:xfrm>
            <a:off x="224972" y="662510"/>
            <a:ext cx="83614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截止日期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：请在第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17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周（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2026.12.25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）结束前提交项目报告和代码。口头汇报的具体时间将再作通知。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B4D99E0-2FA2-4E63-9F3E-6156EC45D6A0}"/>
              </a:ext>
            </a:extLst>
          </p:cNvPr>
          <p:cNvSpPr txBox="1"/>
          <p:nvPr/>
        </p:nvSpPr>
        <p:spPr>
          <a:xfrm>
            <a:off x="224972" y="1522781"/>
            <a:ext cx="82192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考核方式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：报告（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10%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口头汇报（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10%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FFA28F4F-AADA-4662-A682-91D8637241AD}"/>
              </a:ext>
            </a:extLst>
          </p:cNvPr>
          <p:cNvSpPr txBox="1"/>
          <p:nvPr/>
        </p:nvSpPr>
        <p:spPr>
          <a:xfrm>
            <a:off x="224972" y="2138998"/>
            <a:ext cx="821925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 smtClean="0">
                <a:latin typeface="宋体" panose="02010600030101010101" pitchFamily="2" charset="-122"/>
                <a:ea typeface="宋体" panose="02010600030101010101" pitchFamily="2" charset="-122"/>
              </a:rPr>
              <a:t>规划建议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200" b="1" dirty="0" smtClean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参考格院毕业设计的作业流程</a:t>
            </a:r>
            <a:endParaRPr lang="en-US" altLang="zh-CN" sz="2200" b="1" dirty="0" smtClean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1-3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周，文献调研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选题。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目标：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总结任务若干难点，针对性提出解决方案，有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1-3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个创新点。</a:t>
            </a:r>
            <a:endParaRPr lang="en-US" altLang="zh-CN" sz="2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1-3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周，同步熟悉数据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，会下载、增补和使用数据，会画图</a:t>
            </a:r>
            <a:endParaRPr lang="en-US" altLang="zh-CN" sz="2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4-8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周，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选择并执行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基线模型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2-3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型，横向对比用的模型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4-10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型！在此过程中，</a:t>
            </a:r>
            <a:r>
              <a:rPr lang="zh-CN" altLang="en-US" sz="2200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敲定自身模型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及创新（过程，模块等）</a:t>
            </a:r>
            <a:endParaRPr lang="en-US" altLang="zh-CN" sz="2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9-12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周，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调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整、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完善，准备结题报告和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PPT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，确定宣讲人</a:t>
            </a:r>
            <a:endParaRPr lang="en-US" altLang="zh-CN" sz="2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最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后，提交报告，程序，准备口头报告</a:t>
            </a:r>
            <a:endParaRPr lang="en-US" altLang="zh-CN" sz="2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AutoNum type="arabicPeriod"/>
            </a:pP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本周为第四周，因此大致按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周来规划，仅作建议。须尽量提前进度。</a:t>
            </a:r>
            <a:endParaRPr lang="en-US" altLang="zh-CN" sz="2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组长应统筹安排小组成员（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 4-5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人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）。比如文献调研（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10-40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篇），自身和横比模型（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 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个左右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），合理分摊到每人就不算多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92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0" y="-10722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1</a:t>
            </a: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</a:t>
            </a:r>
            <a:r>
              <a:rPr lang="zh-CN" altLang="en-US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项目介绍</a:t>
            </a: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——</a:t>
            </a:r>
            <a:r>
              <a:rPr lang="zh-CN" altLang="en-US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热带低压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2" name="文本框 9">
            <a:extLst>
              <a:ext uri="{FF2B5EF4-FFF2-40B4-BE49-F238E27FC236}">
                <a16:creationId xmlns:a16="http://schemas.microsoft.com/office/drawing/2014/main" id="{DBA81D25-79FA-4DB4-A3BA-2FDCC957B2B0}"/>
              </a:ext>
            </a:extLst>
          </p:cNvPr>
          <p:cNvSpPr txBox="1"/>
          <p:nvPr/>
        </p:nvSpPr>
        <p:spPr>
          <a:xfrm>
            <a:off x="296093" y="806076"/>
            <a:ext cx="842493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热带低压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：热带低气压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(Tropical Depression, TD)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的简称，是热带气旋的一种。在多国家指最大风速小于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17m/s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的热带气旋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属于热带气旋强度最弱的级别。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形成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：热带低压是由许多向上发展、强盛的对流云所组成，是由热带海洋上，空气不稳定区内发展的云团，形成的所谓“热带扰动”开始。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发展初期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的热带气旋，或者强热带气旋登陆后减弱时，都为热带低压。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687183-1091-4AF8-B6D0-7E68FE6B3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114" y="3856524"/>
            <a:ext cx="5444894" cy="230451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99BF3C9-2CBA-49F3-9D79-9706AB54218E}"/>
              </a:ext>
            </a:extLst>
          </p:cNvPr>
          <p:cNvSpPr/>
          <p:nvPr/>
        </p:nvSpPr>
        <p:spPr>
          <a:xfrm>
            <a:off x="1324359" y="3568620"/>
            <a:ext cx="61622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dirty="0"/>
              <a:t>日本气象厅对于台风强度级别</a:t>
            </a:r>
            <a:r>
              <a:rPr lang="en-US" altLang="zh-CN" sz="1400" dirty="0"/>
              <a:t>/</a:t>
            </a:r>
            <a:r>
              <a:rPr lang="zh-CN" altLang="en-US" sz="1400" dirty="0"/>
              <a:t>种类的定义</a:t>
            </a:r>
            <a:r>
              <a:rPr lang="en-US" altLang="zh-CN" sz="1400" dirty="0"/>
              <a:t>[1]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CC7AC0-718D-42BF-8245-B374363ADADC}"/>
              </a:ext>
            </a:extLst>
          </p:cNvPr>
          <p:cNvSpPr/>
          <p:nvPr/>
        </p:nvSpPr>
        <p:spPr>
          <a:xfrm>
            <a:off x="7690" y="6519371"/>
            <a:ext cx="74418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[1] https://www.data.jma.go.jp/multi/cyclone/cyclone_caplink.html?lang=cn_zs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9727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2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20994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数据来源介绍</a:t>
            </a:r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——</a:t>
            </a:r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红外和微波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5" name="文本框 9">
            <a:extLst>
              <a:ext uri="{FF2B5EF4-FFF2-40B4-BE49-F238E27FC236}">
                <a16:creationId xmlns:a16="http://schemas.microsoft.com/office/drawing/2014/main" id="{E5912234-3294-42F2-BAE0-2BFC1A2C9EA3}"/>
              </a:ext>
            </a:extLst>
          </p:cNvPr>
          <p:cNvSpPr txBox="1"/>
          <p:nvPr/>
        </p:nvSpPr>
        <p:spPr>
          <a:xfrm>
            <a:off x="250152" y="582674"/>
            <a:ext cx="8424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红外数据</a:t>
            </a:r>
            <a:r>
              <a:rPr lang="en-US" altLang="zh-CN" sz="2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[2]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原始数据来自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静止轨道气象卫星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Himawari-8/9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搭载的先进葵花成像仪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[3](Advanced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Himawari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Imager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AHI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L1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网格数据，主要用于拍摄亚太地区的可见光和红外图像，共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个可见光和红外通道。所给数据已完成通道提取、空间映射等操作，可直接使用。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3BFC9D5-28C2-4764-A7CD-48BF8A215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032855"/>
              </p:ext>
            </p:extLst>
          </p:nvPr>
        </p:nvGraphicFramePr>
        <p:xfrm>
          <a:off x="3848876" y="3562350"/>
          <a:ext cx="4714099" cy="307795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37118">
                  <a:extLst>
                    <a:ext uri="{9D8B030D-6E8A-4147-A177-3AD203B41FA5}">
                      <a16:colId xmlns:a16="http://schemas.microsoft.com/office/drawing/2014/main" val="2109085719"/>
                    </a:ext>
                  </a:extLst>
                </a:gridCol>
                <a:gridCol w="923731">
                  <a:extLst>
                    <a:ext uri="{9D8B030D-6E8A-4147-A177-3AD203B41FA5}">
                      <a16:colId xmlns:a16="http://schemas.microsoft.com/office/drawing/2014/main" val="3970826370"/>
                    </a:ext>
                  </a:extLst>
                </a:gridCol>
                <a:gridCol w="1735494">
                  <a:extLst>
                    <a:ext uri="{9D8B030D-6E8A-4147-A177-3AD203B41FA5}">
                      <a16:colId xmlns:a16="http://schemas.microsoft.com/office/drawing/2014/main" val="2080988963"/>
                    </a:ext>
                  </a:extLst>
                </a:gridCol>
                <a:gridCol w="1317756">
                  <a:extLst>
                    <a:ext uri="{9D8B030D-6E8A-4147-A177-3AD203B41FA5}">
                      <a16:colId xmlns:a16="http://schemas.microsoft.com/office/drawing/2014/main" val="3266970452"/>
                    </a:ext>
                  </a:extLst>
                </a:gridCol>
              </a:tblGrid>
              <a:tr h="33475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通道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中心频率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观测内容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151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AHI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10.4μm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云顶形态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61791"/>
                  </a:ext>
                </a:extLst>
              </a:tr>
              <a:tr h="288000">
                <a:tc rowSpan="8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ATMS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31.4GHz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大气温度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45918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50.3GHz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00002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51.76GHz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2193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52.8GHz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34702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6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53.596±0.115GHz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50605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7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54.4GHz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854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16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88.2GHz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大气湿度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66398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18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182.31±7GHz</a:t>
                      </a:r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2979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CE6F8C8-2C6E-45E6-A502-74EF10E18703}"/>
              </a:ext>
            </a:extLst>
          </p:cNvPr>
          <p:cNvSpPr/>
          <p:nvPr/>
        </p:nvSpPr>
        <p:spPr>
          <a:xfrm>
            <a:off x="250152" y="1954519"/>
            <a:ext cx="84249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微波数据</a:t>
            </a:r>
            <a:r>
              <a:rPr lang="en-US" altLang="zh-CN" sz="2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[4]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原始数据来自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极地轨道卫星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搭载的先进技术微波探测器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[5](Advanced Technology Microwave Sounder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ATMS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，主要用于探测全球大气中的温度与湿度状况，共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个微波通道。所给数据已完成通道提取、空间映射、临边订正等操作，可直接使用。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EAC045-4C76-49E3-8165-F2E1621BB205}"/>
              </a:ext>
            </a:extLst>
          </p:cNvPr>
          <p:cNvSpPr/>
          <p:nvPr/>
        </p:nvSpPr>
        <p:spPr>
          <a:xfrm>
            <a:off x="5076935" y="3251032"/>
            <a:ext cx="25335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dirty="0"/>
              <a:t>项目所提供数据集涉及的通道</a:t>
            </a:r>
            <a:endParaRPr lang="en-US" altLang="zh-CN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208BC3-C3C6-45C6-A20E-308ADA0E6EBF}"/>
              </a:ext>
            </a:extLst>
          </p:cNvPr>
          <p:cNvSpPr/>
          <p:nvPr/>
        </p:nvSpPr>
        <p:spPr>
          <a:xfrm>
            <a:off x="-19573" y="5890479"/>
            <a:ext cx="42486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[2] </a:t>
            </a:r>
            <a:r>
              <a:rPr lang="en-US" altLang="zh-CN" sz="1200" dirty="0">
                <a:hlinkClick r:id="rId5"/>
              </a:rPr>
              <a:t>https://www.eorc.jaxa.jp/ptree/userguide.html</a:t>
            </a:r>
            <a:endParaRPr lang="en-US" altLang="zh-CN" sz="1200" dirty="0"/>
          </a:p>
          <a:p>
            <a:r>
              <a:rPr lang="en-US" altLang="zh-CN" sz="1200" dirty="0"/>
              <a:t>[3] </a:t>
            </a:r>
            <a:r>
              <a:rPr lang="en-US" altLang="zh-CN" sz="1200" dirty="0">
                <a:hlinkClick r:id="rId6"/>
              </a:rPr>
              <a:t>https://www.jma.go.jp/jma/jma-eng/satellite/index.html</a:t>
            </a:r>
            <a:endParaRPr lang="en-US" altLang="zh-CN" sz="1200" dirty="0"/>
          </a:p>
          <a:p>
            <a:r>
              <a:rPr lang="en-US" altLang="zh-CN" sz="1200" dirty="0"/>
              <a:t>[4] </a:t>
            </a:r>
            <a:r>
              <a:rPr lang="en-US" altLang="zh-CN" sz="1200" dirty="0">
                <a:hlinkClick r:id="rId7"/>
              </a:rPr>
              <a:t>https://www.class.noaa.gov/search/ATMS_TDR</a:t>
            </a:r>
            <a:endParaRPr lang="en-US" altLang="zh-CN" sz="1200" dirty="0"/>
          </a:p>
          <a:p>
            <a:r>
              <a:rPr lang="en-US" altLang="zh-CN" sz="1200" dirty="0"/>
              <a:t>[5] </a:t>
            </a:r>
            <a:r>
              <a:rPr lang="en-US" altLang="zh-CN" sz="1200" dirty="0">
                <a:hlinkClick r:id="rId8"/>
              </a:rPr>
              <a:t>https://www.star.nesdis.noaa.gov/jpss/ATMS.php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36741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0" y="-12872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2 </a:t>
            </a:r>
            <a:r>
              <a:rPr lang="zh-CN" altLang="en-US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示例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10716" y="4458569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BF3C9-2CBA-49F3-9D79-9706AB54218E}"/>
              </a:ext>
            </a:extLst>
          </p:cNvPr>
          <p:cNvSpPr/>
          <p:nvPr/>
        </p:nvSpPr>
        <p:spPr>
          <a:xfrm>
            <a:off x="584102" y="4194497"/>
            <a:ext cx="7880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dirty="0"/>
              <a:t>以</a:t>
            </a:r>
            <a:r>
              <a:rPr lang="en-US" altLang="zh-CN" sz="1400" dirty="0"/>
              <a:t>2025</a:t>
            </a:r>
            <a:r>
              <a:rPr lang="zh-CN" altLang="en-US" sz="1400" dirty="0"/>
              <a:t>年超强台风“桦加沙</a:t>
            </a:r>
            <a:r>
              <a:rPr lang="en-US" altLang="zh-CN" sz="1400" dirty="0"/>
              <a:t>RAGASA</a:t>
            </a:r>
            <a:r>
              <a:rPr lang="zh-CN" altLang="en-US" sz="1400" dirty="0"/>
              <a:t>”为例，展示台风不同等级。</a:t>
            </a:r>
            <a:endParaRPr lang="en-US" altLang="zh-CN" sz="1400" dirty="0"/>
          </a:p>
          <a:p>
            <a:pPr algn="ctr" defTabSz="914400"/>
            <a:r>
              <a:rPr lang="zh-CN" altLang="en-US" sz="1400" dirty="0"/>
              <a:t>第一行为</a:t>
            </a:r>
            <a:r>
              <a:rPr lang="en-US" altLang="zh-CN" sz="1400" dirty="0"/>
              <a:t>AHI</a:t>
            </a:r>
            <a:r>
              <a:rPr lang="zh-CN" altLang="en-US" sz="1400" dirty="0"/>
              <a:t>第</a:t>
            </a:r>
            <a:r>
              <a:rPr lang="en-US" altLang="zh-CN" sz="1400" dirty="0"/>
              <a:t>13</a:t>
            </a:r>
            <a:r>
              <a:rPr lang="zh-CN" altLang="en-US" sz="1400" dirty="0"/>
              <a:t>通道局部红外数据可视化结果，第二行为</a:t>
            </a:r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18</a:t>
            </a:r>
            <a:r>
              <a:rPr lang="zh-CN" altLang="en-US" sz="1400" dirty="0"/>
              <a:t>通道局部微波数据可视化结果</a:t>
            </a:r>
            <a:endParaRPr lang="en-US" altLang="zh-CN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18540B-988E-4684-964C-39C1EA279D1B}"/>
              </a:ext>
            </a:extLst>
          </p:cNvPr>
          <p:cNvSpPr txBox="1"/>
          <p:nvPr/>
        </p:nvSpPr>
        <p:spPr>
          <a:xfrm>
            <a:off x="250399" y="1031533"/>
            <a:ext cx="113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热带低压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B46D76-6F48-4CA5-BD45-42A1873A04C0}"/>
              </a:ext>
            </a:extLst>
          </p:cNvPr>
          <p:cNvSpPr txBox="1"/>
          <p:nvPr/>
        </p:nvSpPr>
        <p:spPr>
          <a:xfrm>
            <a:off x="3222098" y="1042320"/>
            <a:ext cx="133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强热带风暴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71D74B-26B3-44A9-AC20-D211831BB835}"/>
              </a:ext>
            </a:extLst>
          </p:cNvPr>
          <p:cNvSpPr txBox="1"/>
          <p:nvPr/>
        </p:nvSpPr>
        <p:spPr>
          <a:xfrm>
            <a:off x="5058772" y="1033442"/>
            <a:ext cx="64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台风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43169B7-10E5-4C0E-A394-895A02EFCE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2" t="19587" r="55388" b="29284"/>
          <a:stretch/>
        </p:blipFill>
        <p:spPr>
          <a:xfrm>
            <a:off x="1587102" y="1464766"/>
            <a:ext cx="1469095" cy="133948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10BB361-EDBD-499B-AA42-6E63FB944C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" t="19818" r="55312" b="29052"/>
          <a:stretch/>
        </p:blipFill>
        <p:spPr>
          <a:xfrm>
            <a:off x="84499" y="1464766"/>
            <a:ext cx="1469095" cy="133948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2CE311B-FA6D-44E2-8748-09C1CA22E5F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2" t="20063" r="55314" b="28770"/>
          <a:stretch/>
        </p:blipFill>
        <p:spPr>
          <a:xfrm>
            <a:off x="3089705" y="1464766"/>
            <a:ext cx="1469096" cy="133948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F790264-0D05-438D-BBDD-8E056DA6A30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" t="19500" r="55300" b="29369"/>
          <a:stretch/>
        </p:blipFill>
        <p:spPr>
          <a:xfrm>
            <a:off x="4592308" y="1464766"/>
            <a:ext cx="1469096" cy="133948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2F86B86-0519-47B2-8A51-4AFE5E02E5B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" t="20835" r="55300" b="28083"/>
          <a:stretch/>
        </p:blipFill>
        <p:spPr>
          <a:xfrm>
            <a:off x="6094911" y="1464766"/>
            <a:ext cx="1471795" cy="134194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DB026C9-0FC7-42B8-9F2F-46186A7D884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" t="19974" r="55299" b="28959"/>
          <a:stretch/>
        </p:blipFill>
        <p:spPr>
          <a:xfrm>
            <a:off x="7604348" y="1462306"/>
            <a:ext cx="1471795" cy="134194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C97CC8E-4DE4-456A-BB0F-4D6B7521E1FB}"/>
              </a:ext>
            </a:extLst>
          </p:cNvPr>
          <p:cNvSpPr txBox="1"/>
          <p:nvPr/>
        </p:nvSpPr>
        <p:spPr>
          <a:xfrm>
            <a:off x="1770639" y="1036972"/>
            <a:ext cx="115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热带风暴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D190E2D-F7FA-47CB-A81A-F076D7139193}"/>
              </a:ext>
            </a:extLst>
          </p:cNvPr>
          <p:cNvSpPr txBox="1"/>
          <p:nvPr/>
        </p:nvSpPr>
        <p:spPr>
          <a:xfrm>
            <a:off x="6369553" y="1042320"/>
            <a:ext cx="92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强台风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8BBE16-5D6A-42D8-9C2B-1F4AA548B415}"/>
              </a:ext>
            </a:extLst>
          </p:cNvPr>
          <p:cNvSpPr txBox="1"/>
          <p:nvPr/>
        </p:nvSpPr>
        <p:spPr>
          <a:xfrm>
            <a:off x="7778284" y="1028953"/>
            <a:ext cx="113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超强台风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097C264-86C6-44E2-84E6-38E4372750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5" r="50000" b="20192"/>
          <a:stretch/>
        </p:blipFill>
        <p:spPr>
          <a:xfrm>
            <a:off x="3089705" y="2867703"/>
            <a:ext cx="1469448" cy="123384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96E6415-B294-4B03-B36A-33ABF86B999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6" r="49985" b="20198"/>
          <a:stretch/>
        </p:blipFill>
        <p:spPr>
          <a:xfrm>
            <a:off x="6094911" y="2869263"/>
            <a:ext cx="1469094" cy="123354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3690278-AA9E-4C2C-9214-9C8E160B5F56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5" r="50000" b="20192"/>
          <a:stretch/>
        </p:blipFill>
        <p:spPr>
          <a:xfrm>
            <a:off x="84499" y="2867704"/>
            <a:ext cx="1469094" cy="123354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DBC106CF-18AB-4FB9-B93A-90A2F6E1985F}"/>
              </a:ext>
            </a:extLst>
          </p:cNvPr>
          <p:cNvSpPr/>
          <p:nvPr/>
        </p:nvSpPr>
        <p:spPr>
          <a:xfrm>
            <a:off x="289640" y="5240728"/>
            <a:ext cx="84230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关于微波数据的注意点：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极轨卫星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每天两次飞越地球表面上的一个点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同一地区数据的时间分辨率为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12h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卫星数据的网格化导致了视场内部分数据的缺失。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22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2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数据来源介绍</a:t>
            </a:r>
            <a:r>
              <a:rPr lang="en-US" altLang="zh-CN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——</a:t>
            </a:r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台风最佳路径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5" name="文本框 9">
            <a:extLst>
              <a:ext uri="{FF2B5EF4-FFF2-40B4-BE49-F238E27FC236}">
                <a16:creationId xmlns:a16="http://schemas.microsoft.com/office/drawing/2014/main" id="{E5912234-3294-42F2-BAE0-2BFC1A2C9EA3}"/>
              </a:ext>
            </a:extLst>
          </p:cNvPr>
          <p:cNvSpPr txBox="1"/>
          <p:nvPr/>
        </p:nvSpPr>
        <p:spPr>
          <a:xfrm>
            <a:off x="250152" y="696095"/>
            <a:ext cx="84249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台风最佳路径数据集</a:t>
            </a:r>
            <a:r>
              <a:rPr lang="en-US" altLang="zh-CN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[6]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原始数据来源于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RSMC Tokyo-Typhoon Center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发布的台风最佳路径数据集。已完成时间范围提取和标签转化等操作。项目提供原始数据集及数据格式说明文档。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B42CEE-9B9B-4521-BC70-9B599DEE1315}"/>
              </a:ext>
            </a:extLst>
          </p:cNvPr>
          <p:cNvSpPr/>
          <p:nvPr/>
        </p:nvSpPr>
        <p:spPr>
          <a:xfrm>
            <a:off x="16175" y="6483776"/>
            <a:ext cx="82651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[6] https://www.jma.go.jp/jma/jma-eng/jma-center/rsmc-hp-pub-eg/trackarchives.html</a:t>
            </a:r>
            <a:endParaRPr lang="zh-CN" altLang="en-US" sz="1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603F1FB-DAA4-4A54-A720-3BF17E34F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57" y="1904823"/>
            <a:ext cx="3220643" cy="432582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3B2EF42-156A-468C-ADFE-8E787FB5A4AB}"/>
              </a:ext>
            </a:extLst>
          </p:cNvPr>
          <p:cNvSpPr/>
          <p:nvPr/>
        </p:nvSpPr>
        <p:spPr>
          <a:xfrm>
            <a:off x="351357" y="2004527"/>
            <a:ext cx="1813930" cy="942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A5861D4-D720-437D-AB4C-3270858F4381}"/>
              </a:ext>
            </a:extLst>
          </p:cNvPr>
          <p:cNvCxnSpPr>
            <a:cxnSpLocks/>
          </p:cNvCxnSpPr>
          <p:nvPr/>
        </p:nvCxnSpPr>
        <p:spPr>
          <a:xfrm>
            <a:off x="2165287" y="2458929"/>
            <a:ext cx="3397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C0D8E56-09CC-4438-9916-8DFB72BC89C6}"/>
              </a:ext>
            </a:extLst>
          </p:cNvPr>
          <p:cNvSpPr txBox="1"/>
          <p:nvPr/>
        </p:nvSpPr>
        <p:spPr>
          <a:xfrm>
            <a:off x="2461427" y="2291108"/>
            <a:ext cx="1813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发展初期的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TD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170B379-E3F5-4A2C-B275-65934D833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217" y="1981023"/>
            <a:ext cx="3115110" cy="819264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A6760E0-7212-4F53-AB19-B0A0322E82CE}"/>
              </a:ext>
            </a:extLst>
          </p:cNvPr>
          <p:cNvCxnSpPr>
            <a:cxnSpLocks/>
          </p:cNvCxnSpPr>
          <p:nvPr/>
        </p:nvCxnSpPr>
        <p:spPr>
          <a:xfrm>
            <a:off x="5092334" y="2390655"/>
            <a:ext cx="21534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845D066-0F5C-4EBB-9290-316889F4FAB9}"/>
              </a:ext>
            </a:extLst>
          </p:cNvPr>
          <p:cNvCxnSpPr>
            <a:cxnSpLocks/>
          </p:cNvCxnSpPr>
          <p:nvPr/>
        </p:nvCxnSpPr>
        <p:spPr>
          <a:xfrm>
            <a:off x="6861446" y="2641626"/>
            <a:ext cx="3843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DDAFC16-0AF7-4B3D-8AFC-5B1CC9BB1E8D}"/>
              </a:ext>
            </a:extLst>
          </p:cNvPr>
          <p:cNvSpPr txBox="1"/>
          <p:nvPr/>
        </p:nvSpPr>
        <p:spPr>
          <a:xfrm>
            <a:off x="7245794" y="2199935"/>
            <a:ext cx="186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原始最佳路径数据集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ADA1722-9344-4C51-AB39-E7AA37C9A825}"/>
              </a:ext>
            </a:extLst>
          </p:cNvPr>
          <p:cNvSpPr txBox="1"/>
          <p:nvPr/>
        </p:nvSpPr>
        <p:spPr>
          <a:xfrm>
            <a:off x="7245794" y="2480394"/>
            <a:ext cx="197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数据格式说明文档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121071-E167-4D7F-857F-A000CFE37850}"/>
              </a:ext>
            </a:extLst>
          </p:cNvPr>
          <p:cNvSpPr/>
          <p:nvPr/>
        </p:nvSpPr>
        <p:spPr>
          <a:xfrm>
            <a:off x="778922" y="6203321"/>
            <a:ext cx="19998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dirty="0"/>
              <a:t>台风最佳路径数据案例</a:t>
            </a:r>
            <a:endParaRPr lang="en-US" altLang="zh-CN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1CF60B2-8841-448D-9E98-C53D589BDBFD}"/>
              </a:ext>
            </a:extLst>
          </p:cNvPr>
          <p:cNvSpPr/>
          <p:nvPr/>
        </p:nvSpPr>
        <p:spPr>
          <a:xfrm>
            <a:off x="5262787" y="2976970"/>
            <a:ext cx="25096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dirty="0"/>
              <a:t>项目提供的最佳路径相关数据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6777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2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其他数据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5" name="文本框 9">
            <a:extLst>
              <a:ext uri="{FF2B5EF4-FFF2-40B4-BE49-F238E27FC236}">
                <a16:creationId xmlns:a16="http://schemas.microsoft.com/office/drawing/2014/main" id="{E5912234-3294-42F2-BAE0-2BFC1A2C9EA3}"/>
              </a:ext>
            </a:extLst>
          </p:cNvPr>
          <p:cNvSpPr txBox="1"/>
          <p:nvPr/>
        </p:nvSpPr>
        <p:spPr>
          <a:xfrm>
            <a:off x="227100" y="662816"/>
            <a:ext cx="84249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其他环境数据下载地址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596677-0273-418A-9133-772EBEEA6176}"/>
              </a:ext>
            </a:extLst>
          </p:cNvPr>
          <p:cNvSpPr/>
          <p:nvPr/>
        </p:nvSpPr>
        <p:spPr>
          <a:xfrm>
            <a:off x="297337" y="1186612"/>
            <a:ext cx="8549326" cy="1802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降水率</a:t>
            </a: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反映全球降水强度时空分布的网格化数据，常用单位为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mm/h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mm/day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下载网址：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https://gpm.nasa.gov/data/directory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900000">
              <a:lnSpc>
                <a:spcPct val="150000"/>
              </a:lnSpc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https://cds.climate.copernicus.eu/datasets/satellite-precipitation?tab=download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370237-7CF8-47B7-A333-2E27B8332754}"/>
              </a:ext>
            </a:extLst>
          </p:cNvPr>
          <p:cNvSpPr/>
          <p:nvPr/>
        </p:nvSpPr>
        <p:spPr>
          <a:xfrm>
            <a:off x="285998" y="3135706"/>
            <a:ext cx="8632536" cy="1450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海表温度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反映海洋表层水温时空分布的网格化数据，常用单位为℃。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下载网址：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https://cds.climate.copernicus.eu/datasets/satellite-sea-surface-temperature?tab=download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038C3A-D3F3-4F20-8A32-A444CD36293B}"/>
              </a:ext>
            </a:extLst>
          </p:cNvPr>
          <p:cNvSpPr/>
          <p:nvPr/>
        </p:nvSpPr>
        <p:spPr>
          <a:xfrm>
            <a:off x="297337" y="4835877"/>
            <a:ext cx="8424936" cy="1450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位势高度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反映各等压面位势高度时空分布的网格化数据，常用单位为位势米（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gpm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），位势高度低的区域对应低压系统。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下载网址：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https://cds.climate.copernicus.eu/datasets/reanalysis-era5-pressure-levels?tab=download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844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3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20994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数据集介绍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10</a:t>
            </a:fld>
            <a:endParaRPr lang="zh-CN" altLang="en-US" dirty="0"/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D1030653-6773-4A10-BC0F-43BAB97DC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432473"/>
              </p:ext>
            </p:extLst>
          </p:nvPr>
        </p:nvGraphicFramePr>
        <p:xfrm>
          <a:off x="282919" y="1316646"/>
          <a:ext cx="8786434" cy="373332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8230">
                  <a:extLst>
                    <a:ext uri="{9D8B030D-6E8A-4147-A177-3AD203B41FA5}">
                      <a16:colId xmlns:a16="http://schemas.microsoft.com/office/drawing/2014/main" val="2471232538"/>
                    </a:ext>
                  </a:extLst>
                </a:gridCol>
                <a:gridCol w="585765">
                  <a:extLst>
                    <a:ext uri="{9D8B030D-6E8A-4147-A177-3AD203B41FA5}">
                      <a16:colId xmlns:a16="http://schemas.microsoft.com/office/drawing/2014/main" val="2219383096"/>
                    </a:ext>
                  </a:extLst>
                </a:gridCol>
                <a:gridCol w="2230017">
                  <a:extLst>
                    <a:ext uri="{9D8B030D-6E8A-4147-A177-3AD203B41FA5}">
                      <a16:colId xmlns:a16="http://schemas.microsoft.com/office/drawing/2014/main" val="1504675017"/>
                    </a:ext>
                  </a:extLst>
                </a:gridCol>
                <a:gridCol w="1586204">
                  <a:extLst>
                    <a:ext uri="{9D8B030D-6E8A-4147-A177-3AD203B41FA5}">
                      <a16:colId xmlns:a16="http://schemas.microsoft.com/office/drawing/2014/main" val="3105472228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882566724"/>
                    </a:ext>
                  </a:extLst>
                </a:gridCol>
                <a:gridCol w="1166326">
                  <a:extLst>
                    <a:ext uri="{9D8B030D-6E8A-4147-A177-3AD203B41FA5}">
                      <a16:colId xmlns:a16="http://schemas.microsoft.com/office/drawing/2014/main" val="2806945756"/>
                    </a:ext>
                  </a:extLst>
                </a:gridCol>
                <a:gridCol w="905070">
                  <a:extLst>
                    <a:ext uri="{9D8B030D-6E8A-4147-A177-3AD203B41FA5}">
                      <a16:colId xmlns:a16="http://schemas.microsoft.com/office/drawing/2014/main" val="2850015508"/>
                    </a:ext>
                  </a:extLst>
                </a:gridCol>
                <a:gridCol w="1026365">
                  <a:extLst>
                    <a:ext uri="{9D8B030D-6E8A-4147-A177-3AD203B41FA5}">
                      <a16:colId xmlns:a16="http://schemas.microsoft.com/office/drawing/2014/main" val="177367700"/>
                    </a:ext>
                  </a:extLst>
                </a:gridCol>
              </a:tblGrid>
              <a:tr h="227837">
                <a:tc>
                  <a:txBody>
                    <a:bodyPr/>
                    <a:lstStyle/>
                    <a:p>
                      <a:pPr algn="ctr"/>
                      <a:endParaRPr lang="zh-CN" alt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模态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样本量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目标数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涉及台风数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数据大小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文件格式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584127"/>
                  </a:ext>
                </a:extLst>
              </a:tr>
              <a:tr h="380947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单帧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TD_center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1070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1150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250MB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.png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38729"/>
                  </a:ext>
                </a:extLst>
              </a:tr>
              <a:tr h="380947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TD_bbox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825319"/>
                  </a:ext>
                </a:extLst>
              </a:tr>
              <a:tr h="380948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TD_classificationDetection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904750"/>
                  </a:ext>
                </a:extLst>
              </a:tr>
              <a:tr h="380947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MW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TD_center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470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 channels/sample)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1.5GB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.png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959135"/>
                  </a:ext>
                </a:extLst>
              </a:tr>
              <a:tr h="380948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TD_bbox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492465"/>
                  </a:ext>
                </a:extLst>
              </a:tr>
              <a:tr h="380948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TD_classificationDetection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739065"/>
                  </a:ext>
                </a:extLst>
              </a:tr>
              <a:tr h="380947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多帧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TD_center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1070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1150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11.5GB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npy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42988"/>
                  </a:ext>
                </a:extLst>
              </a:tr>
              <a:tr h="380947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TD_bbox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578728"/>
                  </a:ext>
                </a:extLst>
              </a:tr>
              <a:tr h="380947">
                <a:tc vMerge="1"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TD_classificationDetection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85452"/>
                  </a:ext>
                </a:extLst>
              </a:tr>
            </a:tbl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9D55ADA4-8EDF-403D-B36F-AA936BE3B4A4}"/>
              </a:ext>
            </a:extLst>
          </p:cNvPr>
          <p:cNvSpPr txBox="1"/>
          <p:nvPr/>
        </p:nvSpPr>
        <p:spPr>
          <a:xfrm>
            <a:off x="3496143" y="1008869"/>
            <a:ext cx="1548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400" dirty="0"/>
              <a:t>数据集总体情况</a:t>
            </a:r>
          </a:p>
        </p:txBody>
      </p:sp>
    </p:spTree>
    <p:extLst>
      <p:ext uri="{BB962C8B-B14F-4D97-AF65-F5344CB8AC3E}">
        <p14:creationId xmlns:p14="http://schemas.microsoft.com/office/powerpoint/2010/main" val="236859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3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384242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数据集介绍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8" name="文本框 9">
            <a:extLst>
              <a:ext uri="{FF2B5EF4-FFF2-40B4-BE49-F238E27FC236}">
                <a16:creationId xmlns:a16="http://schemas.microsoft.com/office/drawing/2014/main" id="{7CDD7F95-FAE7-418E-82D8-5B95F0AE8404}"/>
              </a:ext>
            </a:extLst>
          </p:cNvPr>
          <p:cNvSpPr txBox="1"/>
          <p:nvPr/>
        </p:nvSpPr>
        <p:spPr>
          <a:xfrm>
            <a:off x="359531" y="1050692"/>
            <a:ext cx="8155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单帧数据集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：提取自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Best Track Data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中有记录的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TD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时间点。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9">
            <a:extLst>
              <a:ext uri="{FF2B5EF4-FFF2-40B4-BE49-F238E27FC236}">
                <a16:creationId xmlns:a16="http://schemas.microsoft.com/office/drawing/2014/main" id="{8340FCA1-0CC7-4726-A690-3057A9E80A72}"/>
              </a:ext>
            </a:extLst>
          </p:cNvPr>
          <p:cNvSpPr txBox="1"/>
          <p:nvPr/>
        </p:nvSpPr>
        <p:spPr>
          <a:xfrm>
            <a:off x="359532" y="3280300"/>
            <a:ext cx="8155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多帧数据集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：以单帧数据为基准，提供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1h/2h/3h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间隔的过去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个时间点的序列数据，总时间跨度分别为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6h/12h/18h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。数据已完成归一化。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AAFD6FD5-1BB6-4F56-B228-98C44582F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094377"/>
              </p:ext>
            </p:extLst>
          </p:nvPr>
        </p:nvGraphicFramePr>
        <p:xfrm>
          <a:off x="896983" y="1868997"/>
          <a:ext cx="7460718" cy="68574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97980">
                  <a:extLst>
                    <a:ext uri="{9D8B030D-6E8A-4147-A177-3AD203B41FA5}">
                      <a16:colId xmlns:a16="http://schemas.microsoft.com/office/drawing/2014/main" val="2471232538"/>
                    </a:ext>
                  </a:extLst>
                </a:gridCol>
                <a:gridCol w="2865450">
                  <a:extLst>
                    <a:ext uri="{9D8B030D-6E8A-4147-A177-3AD203B41FA5}">
                      <a16:colId xmlns:a16="http://schemas.microsoft.com/office/drawing/2014/main" val="2219383096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882566724"/>
                    </a:ext>
                  </a:extLst>
                </a:gridCol>
                <a:gridCol w="1797113">
                  <a:extLst>
                    <a:ext uri="{9D8B030D-6E8A-4147-A177-3AD203B41FA5}">
                      <a16:colId xmlns:a16="http://schemas.microsoft.com/office/drawing/2014/main" val="2806945756"/>
                    </a:ext>
                  </a:extLst>
                </a:gridCol>
              </a:tblGrid>
              <a:tr h="2278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年份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地理范围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像素大小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空间分辨率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584127"/>
                  </a:ext>
                </a:extLst>
              </a:tr>
              <a:tr h="3809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2016-2025</a:t>
                      </a:r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15°S~55°N</a:t>
                      </a:r>
                      <a:r>
                        <a:rPr lang="zh-CN" altLang="en-US" sz="1400" baseline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 baseline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109°E~179°E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640×640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0.11°/pixel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450667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C6F6DB76-57EE-401A-A644-BF67D8C70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999714"/>
              </p:ext>
            </p:extLst>
          </p:nvPr>
        </p:nvGraphicFramePr>
        <p:xfrm>
          <a:off x="896983" y="4452051"/>
          <a:ext cx="7481905" cy="7200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74767">
                  <a:extLst>
                    <a:ext uri="{9D8B030D-6E8A-4147-A177-3AD203B41FA5}">
                      <a16:colId xmlns:a16="http://schemas.microsoft.com/office/drawing/2014/main" val="2471232538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2219383096"/>
                    </a:ext>
                  </a:extLst>
                </a:gridCol>
                <a:gridCol w="3225863">
                  <a:extLst>
                    <a:ext uri="{9D8B030D-6E8A-4147-A177-3AD203B41FA5}">
                      <a16:colId xmlns:a16="http://schemas.microsoft.com/office/drawing/2014/main" val="882566724"/>
                    </a:ext>
                  </a:extLst>
                </a:gridCol>
              </a:tblGrid>
              <a:tr h="2278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数据类型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数据形式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序列排列方式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584127"/>
                  </a:ext>
                </a:extLst>
              </a:tr>
              <a:tr h="4152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float32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(7, 640,640)</a:t>
                      </a:r>
                      <a:endParaRPr lang="en-US" altLang="zh-CN" sz="14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[T, T-Δ,</a:t>
                      </a:r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T-2Δ, … , T-6Δ]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450667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EC3F3E87-2571-4B70-8A14-DB19963C1878}"/>
              </a:ext>
            </a:extLst>
          </p:cNvPr>
          <p:cNvSpPr txBox="1"/>
          <p:nvPr/>
        </p:nvSpPr>
        <p:spPr>
          <a:xfrm>
            <a:off x="3389897" y="1570474"/>
            <a:ext cx="2343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400" dirty="0"/>
              <a:t>单帧和多帧数据的具体信息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4D0A79-F076-4ED1-9B5A-4ACACD57AD41}"/>
              </a:ext>
            </a:extLst>
          </p:cNvPr>
          <p:cNvSpPr txBox="1"/>
          <p:nvPr/>
        </p:nvSpPr>
        <p:spPr>
          <a:xfrm>
            <a:off x="3635903" y="4191188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400" dirty="0"/>
              <a:t>多帧数据的具体信息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360786-34BC-4DF9-AE3D-A4185D47210A}"/>
              </a:ext>
            </a:extLst>
          </p:cNvPr>
          <p:cNvSpPr/>
          <p:nvPr/>
        </p:nvSpPr>
        <p:spPr>
          <a:xfrm>
            <a:off x="896983" y="5287526"/>
            <a:ext cx="42766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PS: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多帧数据集只有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时刻标签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884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0" y="-12872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3 </a:t>
            </a:r>
            <a:r>
              <a:rPr lang="zh-CN" altLang="en-US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单帧数据示例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10716" y="4458569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8701" y="6356351"/>
            <a:ext cx="2057400" cy="365125"/>
          </a:xfrm>
        </p:spPr>
        <p:txBody>
          <a:bodyPr/>
          <a:lstStyle/>
          <a:p>
            <a:fld id="{8EFE8151-B35D-45DD-998A-9C7243A86C52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A867E55-C9DE-43E1-B478-7CBDAABCCC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140" y="4699499"/>
            <a:ext cx="1773252" cy="177325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295762B-9EE7-49C8-97FB-6D1AE6BAA2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12" y="4699500"/>
            <a:ext cx="1773252" cy="177325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44369C4-18CB-4700-87DF-625000E296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634" y="4699499"/>
            <a:ext cx="1773253" cy="1773253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8406B61-8B34-420E-B3B4-DB51DEE083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64" y="4699499"/>
            <a:ext cx="1773254" cy="177325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52A729A-1D89-4188-8F4B-D056BB675D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135" y="2684817"/>
            <a:ext cx="1773255" cy="177325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853CC6F-55EA-4C38-B8C3-EC982DD0B5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12" y="2684819"/>
            <a:ext cx="1773254" cy="1773254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C6435356-18C1-4392-8FB3-906779FC54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632" y="2684817"/>
            <a:ext cx="1773255" cy="177325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C1F9F28-8A17-4644-806A-C718F3B625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97" y="2667461"/>
            <a:ext cx="1773256" cy="177325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9AB51A26-E0A8-4BF6-ACEF-99FD48397F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97" y="711243"/>
            <a:ext cx="1773257" cy="1773257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8259C378-3AD2-410A-81D1-BA3DFBB63B60}"/>
              </a:ext>
            </a:extLst>
          </p:cNvPr>
          <p:cNvSpPr/>
          <p:nvPr/>
        </p:nvSpPr>
        <p:spPr>
          <a:xfrm>
            <a:off x="3047785" y="1236005"/>
            <a:ext cx="52807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红外和各通道微波数据可视化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4626910-A6C8-464D-ADA8-A5CAF340E54B}"/>
              </a:ext>
            </a:extLst>
          </p:cNvPr>
          <p:cNvSpPr txBox="1"/>
          <p:nvPr/>
        </p:nvSpPr>
        <p:spPr>
          <a:xfrm>
            <a:off x="724327" y="2432254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AHI</a:t>
            </a:r>
            <a:r>
              <a:rPr lang="zh-CN" altLang="en-US" sz="1400" dirty="0"/>
              <a:t>第</a:t>
            </a:r>
            <a:r>
              <a:rPr lang="en-US" altLang="zh-CN" sz="1400" dirty="0"/>
              <a:t>13</a:t>
            </a:r>
            <a:r>
              <a:rPr lang="zh-CN" altLang="en-US" sz="1400" dirty="0"/>
              <a:t>通道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4D1DAF-E2A0-4C5F-B910-1308E9296E5A}"/>
              </a:ext>
            </a:extLst>
          </p:cNvPr>
          <p:cNvSpPr txBox="1"/>
          <p:nvPr/>
        </p:nvSpPr>
        <p:spPr>
          <a:xfrm>
            <a:off x="737411" y="4382881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2</a:t>
            </a:r>
            <a:r>
              <a:rPr lang="zh-CN" altLang="en-US" sz="1400" dirty="0"/>
              <a:t>通道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E709A36-1704-4942-BC90-155F515851E0}"/>
              </a:ext>
            </a:extLst>
          </p:cNvPr>
          <p:cNvSpPr txBox="1"/>
          <p:nvPr/>
        </p:nvSpPr>
        <p:spPr>
          <a:xfrm>
            <a:off x="2728921" y="4391722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3</a:t>
            </a:r>
            <a:r>
              <a:rPr lang="zh-CN" altLang="en-US" sz="1400" dirty="0"/>
              <a:t>通道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7EEF4B9-CE76-4063-B411-6C6BA6BF3569}"/>
              </a:ext>
            </a:extLst>
          </p:cNvPr>
          <p:cNvSpPr txBox="1"/>
          <p:nvPr/>
        </p:nvSpPr>
        <p:spPr>
          <a:xfrm>
            <a:off x="4752056" y="4391722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4</a:t>
            </a:r>
            <a:r>
              <a:rPr lang="zh-CN" altLang="en-US" sz="1400" dirty="0"/>
              <a:t>通道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AA131E9-C80F-4A10-9326-DF49DCBE1F88}"/>
              </a:ext>
            </a:extLst>
          </p:cNvPr>
          <p:cNvSpPr txBox="1"/>
          <p:nvPr/>
        </p:nvSpPr>
        <p:spPr>
          <a:xfrm>
            <a:off x="6700957" y="4391722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5</a:t>
            </a:r>
            <a:r>
              <a:rPr lang="zh-CN" altLang="en-US" sz="1400" dirty="0"/>
              <a:t>通道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DDB86F3-6784-4A14-9319-A98FCFD90671}"/>
              </a:ext>
            </a:extLst>
          </p:cNvPr>
          <p:cNvSpPr txBox="1"/>
          <p:nvPr/>
        </p:nvSpPr>
        <p:spPr>
          <a:xfrm>
            <a:off x="824592" y="6413699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6</a:t>
            </a:r>
            <a:r>
              <a:rPr lang="zh-CN" altLang="en-US" sz="1400" dirty="0"/>
              <a:t>通道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3BA9E7E-D278-4111-ABD0-F758647EE784}"/>
              </a:ext>
            </a:extLst>
          </p:cNvPr>
          <p:cNvSpPr txBox="1"/>
          <p:nvPr/>
        </p:nvSpPr>
        <p:spPr>
          <a:xfrm>
            <a:off x="2650508" y="6422540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7</a:t>
            </a:r>
            <a:r>
              <a:rPr lang="zh-CN" altLang="en-US" sz="1400" dirty="0"/>
              <a:t>通道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472C5B3-BFEE-4E0C-959D-49721C44CE79}"/>
              </a:ext>
            </a:extLst>
          </p:cNvPr>
          <p:cNvSpPr txBox="1"/>
          <p:nvPr/>
        </p:nvSpPr>
        <p:spPr>
          <a:xfrm>
            <a:off x="4633592" y="6472751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16</a:t>
            </a:r>
            <a:r>
              <a:rPr lang="zh-CN" altLang="en-US" sz="1400" dirty="0"/>
              <a:t>通道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CE8C91F-532F-41C7-9B89-DD55DABDA57E}"/>
              </a:ext>
            </a:extLst>
          </p:cNvPr>
          <p:cNvSpPr txBox="1"/>
          <p:nvPr/>
        </p:nvSpPr>
        <p:spPr>
          <a:xfrm>
            <a:off x="6754660" y="6443225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ATMS</a:t>
            </a:r>
            <a:r>
              <a:rPr lang="zh-CN" altLang="en-US" sz="1400" dirty="0"/>
              <a:t>第</a:t>
            </a:r>
            <a:r>
              <a:rPr lang="en-US" altLang="zh-CN" sz="1400" dirty="0"/>
              <a:t>18</a:t>
            </a:r>
            <a:r>
              <a:rPr lang="zh-CN" altLang="en-US" sz="1400" dirty="0"/>
              <a:t>通道</a:t>
            </a:r>
          </a:p>
        </p:txBody>
      </p:sp>
    </p:spTree>
    <p:extLst>
      <p:ext uri="{BB962C8B-B14F-4D97-AF65-F5344CB8AC3E}">
        <p14:creationId xmlns:p14="http://schemas.microsoft.com/office/powerpoint/2010/main" val="323485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0" y="-12872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3 </a:t>
            </a:r>
            <a:r>
              <a:rPr lang="zh-CN" altLang="en-US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多帧数据示例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10716" y="4458569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9AE5CE-D663-4A5A-909D-7B98B1ADF9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23"/>
          <a:stretch/>
        </p:blipFill>
        <p:spPr>
          <a:xfrm>
            <a:off x="289640" y="900685"/>
            <a:ext cx="6456393" cy="21461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7517167-1076-4EF2-8006-DD5DFF5C6C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84"/>
          <a:stretch/>
        </p:blipFill>
        <p:spPr>
          <a:xfrm>
            <a:off x="289640" y="3575859"/>
            <a:ext cx="8583772" cy="21507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17A70CB-1053-400C-9D7E-99571D4F8711}"/>
              </a:ext>
            </a:extLst>
          </p:cNvPr>
          <p:cNvSpPr txBox="1"/>
          <p:nvPr/>
        </p:nvSpPr>
        <p:spPr>
          <a:xfrm>
            <a:off x="435078" y="3036872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T-6Δ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F905BB-09FC-426F-8478-20C6C7FAF7A4}"/>
              </a:ext>
            </a:extLst>
          </p:cNvPr>
          <p:cNvSpPr txBox="1"/>
          <p:nvPr/>
        </p:nvSpPr>
        <p:spPr>
          <a:xfrm>
            <a:off x="2581739" y="3036872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T-5Δ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1A5B58-6342-4336-97BE-328795A28451}"/>
              </a:ext>
            </a:extLst>
          </p:cNvPr>
          <p:cNvSpPr txBox="1"/>
          <p:nvPr/>
        </p:nvSpPr>
        <p:spPr>
          <a:xfrm>
            <a:off x="4728400" y="3030116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T-4Δ</a:t>
            </a:r>
            <a:endParaRPr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F13AE7-38DC-49F8-9304-E9885170BA72}"/>
              </a:ext>
            </a:extLst>
          </p:cNvPr>
          <p:cNvSpPr txBox="1"/>
          <p:nvPr/>
        </p:nvSpPr>
        <p:spPr>
          <a:xfrm>
            <a:off x="435078" y="5733688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T-3Δ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7975AC-34D0-432A-8126-00BC20152410}"/>
              </a:ext>
            </a:extLst>
          </p:cNvPr>
          <p:cNvSpPr txBox="1"/>
          <p:nvPr/>
        </p:nvSpPr>
        <p:spPr>
          <a:xfrm>
            <a:off x="2581739" y="5726580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T-2Δ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362A58-BAEE-44AB-B650-4D50921169F9}"/>
              </a:ext>
            </a:extLst>
          </p:cNvPr>
          <p:cNvSpPr txBox="1"/>
          <p:nvPr/>
        </p:nvSpPr>
        <p:spPr>
          <a:xfrm>
            <a:off x="4690069" y="5733688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T-Δ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C9A351-3DB0-4B17-922F-D5BB4B387757}"/>
              </a:ext>
            </a:extLst>
          </p:cNvPr>
          <p:cNvSpPr txBox="1"/>
          <p:nvPr/>
        </p:nvSpPr>
        <p:spPr>
          <a:xfrm>
            <a:off x="6836730" y="5742577"/>
            <a:ext cx="1872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/>
              <a:t>T</a:t>
            </a:r>
            <a:endParaRPr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87651A-D9EF-4C0C-A351-A14D374ABF81}"/>
              </a:ext>
            </a:extLst>
          </p:cNvPr>
          <p:cNvSpPr/>
          <p:nvPr/>
        </p:nvSpPr>
        <p:spPr>
          <a:xfrm>
            <a:off x="6879884" y="2014991"/>
            <a:ext cx="2213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此处时间间隔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Δ=3h</a:t>
            </a:r>
          </a:p>
        </p:txBody>
      </p:sp>
    </p:spTree>
    <p:extLst>
      <p:ext uri="{BB962C8B-B14F-4D97-AF65-F5344CB8AC3E}">
        <p14:creationId xmlns:p14="http://schemas.microsoft.com/office/powerpoint/2010/main" val="338051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3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已有数据集标签介绍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1" name="文本框 9">
            <a:extLst>
              <a:ext uri="{FF2B5EF4-FFF2-40B4-BE49-F238E27FC236}">
                <a16:creationId xmlns:a16="http://schemas.microsoft.com/office/drawing/2014/main" id="{3D7909A2-1D9A-4F14-BC2C-63E0E03C80F6}"/>
              </a:ext>
            </a:extLst>
          </p:cNvPr>
          <p:cNvSpPr txBox="1"/>
          <p:nvPr/>
        </p:nvSpPr>
        <p:spPr>
          <a:xfrm>
            <a:off x="359530" y="1116833"/>
            <a:ext cx="7921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altLang="zh-CN" sz="2000" b="1" u="sng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TD_center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标签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提取自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Best Track Data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中的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中心点经纬度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数据。提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供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YOLO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格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式标签。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altLang="zh-CN" sz="2000" b="1" u="sng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TD_bbox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标签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TD_center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为框中心，生成固定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5°×5°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45×45 pixels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）大小的标注框。提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YOLO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COCO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格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式。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altLang="zh-CN" sz="2000" u="sng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altLang="zh-CN" sz="2000" b="1" u="sng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TD_classificationDetection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标签：</a:t>
            </a:r>
            <a:r>
              <a:rPr lang="zh-CN" altLang="en-US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在单类</a:t>
            </a:r>
            <a:r>
              <a: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目标检测的基础上，按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是否会在</a:t>
            </a:r>
            <a:r>
              <a:rPr lang="en-US" altLang="zh-CN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24h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内发展为</a:t>
            </a:r>
            <a:r>
              <a:rPr lang="en-US" altLang="zh-CN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以上等级</a:t>
            </a:r>
            <a:r>
              <a:rPr lang="zh-CN" altLang="en-US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为判别标准，将目标分为</a:t>
            </a:r>
            <a:r>
              <a: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类。</a:t>
            </a:r>
            <a:endParaRPr lang="en-US" altLang="zh-CN" sz="2000" u="sng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altLang="zh-CN" sz="2000" u="sng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71B41-40DA-4AD7-97E5-22CA6AA1947D}"/>
              </a:ext>
            </a:extLst>
          </p:cNvPr>
          <p:cNvSpPr/>
          <p:nvPr/>
        </p:nvSpPr>
        <p:spPr>
          <a:xfrm>
            <a:off x="1021150" y="4196147"/>
            <a:ext cx="5602612" cy="791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24h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内不会发展为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TD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以上等级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24h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内会发展为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TD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以上等级</a:t>
            </a:r>
          </a:p>
        </p:txBody>
      </p:sp>
    </p:spTree>
    <p:extLst>
      <p:ext uri="{BB962C8B-B14F-4D97-AF65-F5344CB8AC3E}">
        <p14:creationId xmlns:p14="http://schemas.microsoft.com/office/powerpoint/2010/main" val="133995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4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项目任务拟定参考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7" name="文本框 9">
            <a:extLst>
              <a:ext uri="{FF2B5EF4-FFF2-40B4-BE49-F238E27FC236}">
                <a16:creationId xmlns:a16="http://schemas.microsoft.com/office/drawing/2014/main" id="{D48DB927-4B1D-45B4-AEF2-664DD955775B}"/>
              </a:ext>
            </a:extLst>
          </p:cNvPr>
          <p:cNvSpPr txBox="1"/>
          <p:nvPr/>
        </p:nvSpPr>
        <p:spPr>
          <a:xfrm>
            <a:off x="119471" y="769278"/>
            <a:ext cx="8219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中心点定位</a:t>
            </a: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识别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的中心点位置。现有研究主要在</a:t>
            </a: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小视场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内进行中心点定位。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B13A8EB-5FDE-4A9D-8588-C4058F802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55" y="1774961"/>
            <a:ext cx="7474646" cy="356507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6B32A17-FD26-498C-8B1C-FE60507BF5F5}"/>
              </a:ext>
            </a:extLst>
          </p:cNvPr>
          <p:cNvSpPr/>
          <p:nvPr/>
        </p:nvSpPr>
        <p:spPr>
          <a:xfrm>
            <a:off x="3363317" y="1474376"/>
            <a:ext cx="21804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/>
            <a:r>
              <a:rPr lang="zh-CN" altLang="en-US" sz="1400" dirty="0"/>
              <a:t>中心点定位研究的示例</a:t>
            </a:r>
            <a:r>
              <a:rPr lang="en-US" altLang="zh-CN" sz="1400" dirty="0"/>
              <a:t>[7]</a:t>
            </a:r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DAE945-F149-4CB5-A828-A9ABB4C00501}"/>
              </a:ext>
            </a:extLst>
          </p:cNvPr>
          <p:cNvSpPr/>
          <p:nvPr/>
        </p:nvSpPr>
        <p:spPr>
          <a:xfrm>
            <a:off x="0" y="6346853"/>
            <a:ext cx="90245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[7] H. Wang, Q. Xu, X. Yin, and Y. Cheng, “Determination of low-intensity tropical cyclone centers in geostationary satellite images using a physics-enhanced deep-learning model,” IEEE Trans. </a:t>
            </a:r>
            <a:r>
              <a:rPr lang="en-US" altLang="zh-CN" sz="1200" dirty="0" err="1"/>
              <a:t>Geosci</a:t>
            </a:r>
            <a:r>
              <a:rPr lang="en-US" altLang="zh-CN" sz="1200" dirty="0"/>
              <a:t>. Remote Sens., vol. 62, pp. 1–10, 2024,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</a:t>
            </a:r>
            <a:r>
              <a:rPr lang="en-US" altLang="zh-CN" sz="1200" dirty="0"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10.1109/TGRS.2024.3363842</a:t>
            </a:r>
            <a:r>
              <a:rPr lang="en-US" altLang="zh-CN" sz="1200" dirty="0"/>
              <a:t>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16D04D-DB9F-4C04-8152-C32D0F762052}"/>
              </a:ext>
            </a:extLst>
          </p:cNvPr>
          <p:cNvSpPr txBox="1"/>
          <p:nvPr/>
        </p:nvSpPr>
        <p:spPr>
          <a:xfrm>
            <a:off x="455373" y="5449255"/>
            <a:ext cx="8395880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200" b="0" u="none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常用评估指标：平均误差</a:t>
            </a:r>
            <a:r>
              <a:rPr lang="en-US" altLang="zh-CN" dirty="0"/>
              <a:t>(ME)</a:t>
            </a:r>
            <a:r>
              <a:rPr lang="zh-CN" altLang="en-US" dirty="0"/>
              <a:t>、平均绝对误差</a:t>
            </a:r>
            <a:r>
              <a:rPr lang="en-US" altLang="zh-CN" dirty="0"/>
              <a:t>(MAE)</a:t>
            </a:r>
            <a:r>
              <a:rPr lang="zh-CN" altLang="en-US" dirty="0"/>
              <a:t>、均方根误差</a:t>
            </a:r>
            <a:r>
              <a:rPr lang="en-US" altLang="zh-CN" dirty="0"/>
              <a:t>(RMSE)</a:t>
            </a:r>
            <a:r>
              <a:rPr lang="zh-CN" altLang="en-US" dirty="0"/>
              <a:t>、平均距离</a:t>
            </a:r>
            <a:r>
              <a:rPr lang="en-US" altLang="zh-CN" dirty="0"/>
              <a:t>(MD)</a:t>
            </a:r>
            <a:r>
              <a:rPr lang="zh-CN" altLang="en-US" dirty="0"/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354294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4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项目任务拟定参考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5" name="文本框 9">
            <a:extLst>
              <a:ext uri="{FF2B5EF4-FFF2-40B4-BE49-F238E27FC236}">
                <a16:creationId xmlns:a16="http://schemas.microsoft.com/office/drawing/2014/main" id="{E5912234-3294-42F2-BAE0-2BFC1A2C9EA3}"/>
              </a:ext>
            </a:extLst>
          </p:cNvPr>
          <p:cNvSpPr txBox="1"/>
          <p:nvPr/>
        </p:nvSpPr>
        <p:spPr>
          <a:xfrm>
            <a:off x="119471" y="798976"/>
            <a:ext cx="82192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CN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中心检测</a:t>
            </a: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定义预测中心与真实中心的距离判定阈值（大视场下，建议阈值为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3°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），误差小于该阈值判为检测到该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，反之，则判为未检测到该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altLang="zh-CN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水平框检测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定义预测框与真实标注框的交并比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IoU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判定阈值，误差小于该阈值判为检测到该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，反之，则判为未检测到该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AD3776A-C6E9-49D5-84FF-DC78FC5FD535}"/>
              </a:ext>
            </a:extLst>
          </p:cNvPr>
          <p:cNvSpPr txBox="1"/>
          <p:nvPr/>
        </p:nvSpPr>
        <p:spPr>
          <a:xfrm>
            <a:off x="496642" y="5695301"/>
            <a:ext cx="7199488" cy="4308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200" b="0" u="none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常用评估指标：</a:t>
            </a:r>
            <a:r>
              <a:rPr lang="en-US" altLang="zh-CN" dirty="0"/>
              <a:t>AP, AR, FROC</a:t>
            </a:r>
            <a:r>
              <a:rPr lang="zh-CN" altLang="en-US" dirty="0"/>
              <a:t>曲线等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8A9BAF3-9130-428B-BA63-0A08F060E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289399"/>
              </p:ext>
            </p:extLst>
          </p:nvPr>
        </p:nvGraphicFramePr>
        <p:xfrm>
          <a:off x="1151165" y="3352842"/>
          <a:ext cx="5890442" cy="180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536">
                  <a:extLst>
                    <a:ext uri="{9D8B030D-6E8A-4147-A177-3AD203B41FA5}">
                      <a16:colId xmlns:a16="http://schemas.microsoft.com/office/drawing/2014/main" val="2919470956"/>
                    </a:ext>
                  </a:extLst>
                </a:gridCol>
                <a:gridCol w="949911">
                  <a:extLst>
                    <a:ext uri="{9D8B030D-6E8A-4147-A177-3AD203B41FA5}">
                      <a16:colId xmlns:a16="http://schemas.microsoft.com/office/drawing/2014/main" val="4162108429"/>
                    </a:ext>
                  </a:extLst>
                </a:gridCol>
                <a:gridCol w="648070">
                  <a:extLst>
                    <a:ext uri="{9D8B030D-6E8A-4147-A177-3AD203B41FA5}">
                      <a16:colId xmlns:a16="http://schemas.microsoft.com/office/drawing/2014/main" val="429240249"/>
                    </a:ext>
                  </a:extLst>
                </a:gridCol>
                <a:gridCol w="665825">
                  <a:extLst>
                    <a:ext uri="{9D8B030D-6E8A-4147-A177-3AD203B41FA5}">
                      <a16:colId xmlns:a16="http://schemas.microsoft.com/office/drawing/2014/main" val="831226082"/>
                    </a:ext>
                  </a:extLst>
                </a:gridCol>
                <a:gridCol w="648070">
                  <a:extLst>
                    <a:ext uri="{9D8B030D-6E8A-4147-A177-3AD203B41FA5}">
                      <a16:colId xmlns:a16="http://schemas.microsoft.com/office/drawing/2014/main" val="1479225172"/>
                    </a:ext>
                  </a:extLst>
                </a:gridCol>
                <a:gridCol w="665825">
                  <a:extLst>
                    <a:ext uri="{9D8B030D-6E8A-4147-A177-3AD203B41FA5}">
                      <a16:colId xmlns:a16="http://schemas.microsoft.com/office/drawing/2014/main" val="3218278325"/>
                    </a:ext>
                  </a:extLst>
                </a:gridCol>
                <a:gridCol w="648070">
                  <a:extLst>
                    <a:ext uri="{9D8B030D-6E8A-4147-A177-3AD203B41FA5}">
                      <a16:colId xmlns:a16="http://schemas.microsoft.com/office/drawing/2014/main" val="2268837178"/>
                    </a:ext>
                  </a:extLst>
                </a:gridCol>
                <a:gridCol w="716135">
                  <a:extLst>
                    <a:ext uri="{9D8B030D-6E8A-4147-A177-3AD203B41FA5}">
                      <a16:colId xmlns:a16="http://schemas.microsoft.com/office/drawing/2014/main" val="312924001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FPI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AP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270679"/>
                  </a:ext>
                </a:extLst>
              </a:tr>
              <a:tr h="262899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639662"/>
                  </a:ext>
                </a:extLst>
              </a:tr>
              <a:tr h="315022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DINO</a:t>
                      </a:r>
                    </a:p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(2023)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IoU_thr</a:t>
                      </a:r>
                      <a:r>
                        <a:rPr lang="en-US" altLang="zh-CN" sz="12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=0.5</a:t>
                      </a:r>
                      <a:endParaRPr lang="en-US" altLang="zh-CN" sz="12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0.4438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0.5740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0.6331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0.6805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0.7396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0.492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31857"/>
                  </a:ext>
                </a:extLst>
              </a:tr>
              <a:tr h="315022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IoU_thr</a:t>
                      </a:r>
                      <a:r>
                        <a:rPr lang="en-US" altLang="zh-CN" sz="12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=0.4</a:t>
                      </a:r>
                      <a:endParaRPr lang="en-US" altLang="zh-CN" sz="12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0.5503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0.5503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0.6923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0.7456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0.7929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0.577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594833"/>
                  </a:ext>
                </a:extLst>
              </a:tr>
              <a:tr h="315022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IoU_thr</a:t>
                      </a:r>
                      <a:r>
                        <a:rPr lang="en-US" altLang="zh-CN" sz="12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=0.3</a:t>
                      </a:r>
                      <a:endParaRPr lang="en-US" altLang="zh-CN" sz="12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0.6036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0.6864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0.7396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0.7988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0.7988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zh-CN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867524"/>
                  </a:ext>
                </a:extLst>
              </a:tr>
              <a:tr h="315022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IoU_thr</a:t>
                      </a:r>
                      <a:r>
                        <a:rPr lang="en-US" altLang="zh-CN" sz="12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=0.2</a:t>
                      </a:r>
                      <a:endParaRPr lang="en-US" altLang="zh-CN" sz="12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0.6272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0.6982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0.7633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0.8225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0.8698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0.677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86823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A77313E-920B-4E56-8F0E-E4CA2D872BE6}"/>
              </a:ext>
            </a:extLst>
          </p:cNvPr>
          <p:cNvSpPr/>
          <p:nvPr/>
        </p:nvSpPr>
        <p:spPr>
          <a:xfrm>
            <a:off x="2093279" y="3009344"/>
            <a:ext cx="40062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/>
            <a:r>
              <a:rPr lang="en-US" altLang="zh-CN" sz="1400" dirty="0">
                <a:solidFill>
                  <a:prstClr val="black"/>
                </a:solidFill>
              </a:rPr>
              <a:t>DINO</a:t>
            </a:r>
            <a:r>
              <a:rPr lang="zh-CN" altLang="en-US" sz="1400" dirty="0">
                <a:solidFill>
                  <a:prstClr val="black"/>
                </a:solidFill>
              </a:rPr>
              <a:t>模型</a:t>
            </a:r>
            <a:r>
              <a:rPr lang="en-US" altLang="zh-CN" sz="1400" dirty="0">
                <a:solidFill>
                  <a:prstClr val="black"/>
                </a:solidFill>
              </a:rPr>
              <a:t>[8]</a:t>
            </a:r>
            <a:r>
              <a:rPr lang="zh-CN" altLang="en-US" sz="1400" dirty="0">
                <a:solidFill>
                  <a:prstClr val="black"/>
                </a:solidFill>
              </a:rPr>
              <a:t>的红外单源数据水平框检测结果示例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3E23F9-4672-4A09-A34B-7888833AB5F2}"/>
              </a:ext>
            </a:extLst>
          </p:cNvPr>
          <p:cNvSpPr/>
          <p:nvPr/>
        </p:nvSpPr>
        <p:spPr>
          <a:xfrm>
            <a:off x="0" y="6364926"/>
            <a:ext cx="8879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[8] M. Caron et al., “Emerging properties in self-supervised vision transformers,” in 2021 IEEE/CVF International Conference on Computer Vision (ICCV), Montreal, QC, Canada: IEEE, Oct. 2021, pp. 9630–9640.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10.1109/ICCV48922.2021.00951.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3688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4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项目任务拟定参考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3E23F9-4672-4A09-A34B-7888833AB5F2}"/>
              </a:ext>
            </a:extLst>
          </p:cNvPr>
          <p:cNvSpPr/>
          <p:nvPr/>
        </p:nvSpPr>
        <p:spPr>
          <a:xfrm>
            <a:off x="0" y="6364926"/>
            <a:ext cx="8879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[9] X. Tian, L. Yang, C. Bi, and C. Yu, “OFMAD-TC: A tropical cyclone detection method with optical flow and morphology awareness,” Neurocomputing, vol. 662, p. 131936, Jan. 2026,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10.1016/j.neucom.2025.131936.</a:t>
            </a:r>
            <a:endParaRPr lang="zh-CN" altLang="en-US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082838C-5237-401F-88AC-253E38D76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667" y="947561"/>
            <a:ext cx="6598665" cy="528357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A32188B-D331-45D4-B782-D32C11ADA12B}"/>
              </a:ext>
            </a:extLst>
          </p:cNvPr>
          <p:cNvSpPr/>
          <p:nvPr/>
        </p:nvSpPr>
        <p:spPr>
          <a:xfrm>
            <a:off x="2355830" y="725675"/>
            <a:ext cx="37465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/>
            <a:r>
              <a:rPr lang="zh-CN" altLang="en-US" sz="1400" dirty="0">
                <a:solidFill>
                  <a:prstClr val="black"/>
                </a:solidFill>
              </a:rPr>
              <a:t>水平框检测与中心点定位联合研究的示例</a:t>
            </a:r>
            <a:r>
              <a:rPr lang="en-US" altLang="zh-CN" sz="1400" dirty="0">
                <a:solidFill>
                  <a:prstClr val="black"/>
                </a:solidFill>
              </a:rPr>
              <a:t>[9]</a:t>
            </a:r>
            <a:endParaRPr lang="zh-CN" alt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37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4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项目任务拟定参考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D70469-CAF5-4B5E-B79D-0CFCEA75FC5B}"/>
              </a:ext>
            </a:extLst>
          </p:cNvPr>
          <p:cNvSpPr/>
          <p:nvPr/>
        </p:nvSpPr>
        <p:spPr>
          <a:xfrm>
            <a:off x="296091" y="884450"/>
            <a:ext cx="77002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altLang="zh-CN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预测分类</a:t>
            </a: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TD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的未来发展情况作预测分类。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1AD008-11FD-4B2C-8681-78526AE30EA1}"/>
              </a:ext>
            </a:extLst>
          </p:cNvPr>
          <p:cNvSpPr/>
          <p:nvPr/>
        </p:nvSpPr>
        <p:spPr>
          <a:xfrm>
            <a:off x="296090" y="2797015"/>
            <a:ext cx="804765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其他任务</a:t>
            </a: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中心轨迹预测、未来强度预测、数据和标签质量提升、目标分割数据集制作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[10]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56727E-ED2B-4700-9716-6E1825205A0D}"/>
              </a:ext>
            </a:extLst>
          </p:cNvPr>
          <p:cNvSpPr txBox="1"/>
          <p:nvPr/>
        </p:nvSpPr>
        <p:spPr>
          <a:xfrm>
            <a:off x="804782" y="1551967"/>
            <a:ext cx="7534435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2200" b="1" u="sng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indent="0">
              <a:buNone/>
            </a:pPr>
            <a:r>
              <a:rPr lang="zh-CN" altLang="en-US" b="0" u="none" dirty="0"/>
              <a:t>常用评估指标：</a:t>
            </a:r>
            <a:r>
              <a:rPr lang="en-US" altLang="zh-CN" b="0" u="none" dirty="0"/>
              <a:t>Accuracy,</a:t>
            </a:r>
            <a:r>
              <a:rPr lang="zh-CN" altLang="en-US" b="0" u="none" dirty="0"/>
              <a:t> </a:t>
            </a:r>
            <a:r>
              <a:rPr lang="en-US" altLang="zh-CN" b="0" u="none" dirty="0"/>
              <a:t>Precision, Recall, F1-score, ROC</a:t>
            </a:r>
            <a:r>
              <a:rPr lang="zh-CN" altLang="en-US" b="0" u="none" dirty="0"/>
              <a:t>曲线等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EABA75-9260-4DDC-BA27-139B67BAE70B}"/>
              </a:ext>
            </a:extLst>
          </p:cNvPr>
          <p:cNvSpPr/>
          <p:nvPr/>
        </p:nvSpPr>
        <p:spPr>
          <a:xfrm>
            <a:off x="7690" y="6145222"/>
            <a:ext cx="7667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[10]J. May, M. </a:t>
            </a:r>
            <a:r>
              <a:rPr lang="en-US" altLang="zh-CN" sz="1200" dirty="0" err="1"/>
              <a:t>Harandi</a:t>
            </a:r>
            <a:r>
              <a:rPr lang="en-US" altLang="zh-CN" sz="1200" dirty="0"/>
              <a:t>, J. S. </a:t>
            </a:r>
            <a:r>
              <a:rPr lang="en-US" altLang="zh-CN" sz="1200" dirty="0" err="1"/>
              <a:t>Tyo</a:t>
            </a:r>
            <a:r>
              <a:rPr lang="en-US" altLang="zh-CN" sz="1200" dirty="0"/>
              <a:t>, and E. A. Ritchie, “Segmentation of non-cloud regions of tropical cyclones with </a:t>
            </a:r>
            <a:r>
              <a:rPr lang="en-US" altLang="zh-CN" sz="1200" dirty="0" err="1"/>
              <a:t>segformer</a:t>
            </a:r>
            <a:r>
              <a:rPr lang="en-US" altLang="zh-CN" sz="1200" dirty="0"/>
              <a:t>,” in IGARSS 2025 - 2025 IEEE International Geoscience and Remote Sensing Symposium, Aug. 2025, pp. 7133–7136.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</a:t>
            </a:r>
            <a:r>
              <a:rPr lang="en-US" altLang="zh-CN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10.1109/IGARSS55030.2025.11243479</a:t>
            </a:r>
            <a:r>
              <a:rPr lang="en-US" altLang="zh-CN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32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174812" y="-22243"/>
            <a:ext cx="4746812" cy="6051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defTabSz="685800">
              <a:defRPr/>
            </a:pPr>
            <a:r>
              <a:rPr lang="en-US" altLang="zh-CN" sz="2400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    </a:t>
            </a:r>
            <a:r>
              <a:rPr lang="en-US" altLang="zh-CN" sz="2400" i="1" dirty="0">
                <a:solidFill>
                  <a:prstClr val="white"/>
                </a:solidFill>
                <a:latin typeface="TimesNewRoman,Bold"/>
                <a:cs typeface="Calibri" panose="020F0502020204030204" pitchFamily="34" charset="0"/>
              </a:rPr>
              <a:t>Chapter 5</a:t>
            </a:r>
            <a:endParaRPr lang="en-US" altLang="zh-CN" sz="2700" i="1" dirty="0">
              <a:solidFill>
                <a:prstClr val="white"/>
              </a:solidFill>
              <a:latin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1600200" y="4948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注意事项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5" name="文本框 9">
            <a:extLst>
              <a:ext uri="{FF2B5EF4-FFF2-40B4-BE49-F238E27FC236}">
                <a16:creationId xmlns:a16="http://schemas.microsoft.com/office/drawing/2014/main" id="{E5912234-3294-42F2-BAE0-2BFC1A2C9EA3}"/>
              </a:ext>
            </a:extLst>
          </p:cNvPr>
          <p:cNvSpPr txBox="1"/>
          <p:nvPr/>
        </p:nvSpPr>
        <p:spPr>
          <a:xfrm>
            <a:off x="296093" y="806076"/>
            <a:ext cx="8424937" cy="2297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开放性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所给数据集主要针对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大视场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内的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TD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目标检测、预测等，可以根据小组的任务需求，对所给数据集进行二次处理。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可以利用台风最佳路径数据集生成其他类型的标签，不要局限于所给的几种标签。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976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1" y="-2241"/>
            <a:ext cx="7382435" cy="611841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3" y="-34943"/>
            <a:ext cx="862627" cy="8583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81308" y="4411207"/>
            <a:ext cx="3762692" cy="2380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7690" y="6801340"/>
            <a:ext cx="2026920" cy="3428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95BFEB-1068-4203-A898-FB41FEB726F0}"/>
              </a:ext>
            </a:extLst>
          </p:cNvPr>
          <p:cNvSpPr txBox="1"/>
          <p:nvPr/>
        </p:nvSpPr>
        <p:spPr>
          <a:xfrm>
            <a:off x="7690" y="72846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prstClr val="white"/>
                </a:solidFill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统一提供参考文献</a:t>
            </a:r>
            <a:endParaRPr lang="en-US" altLang="zh-CN" sz="2400" b="1" i="1" dirty="0">
              <a:solidFill>
                <a:prstClr val="white"/>
              </a:solidFill>
              <a:latin typeface="TimesNewRoman,Bold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F86A62-CB9E-4C0D-8FE6-3657A203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E8151-B35D-45DD-998A-9C7243A86C52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8307EA-906E-477E-9F63-645EF0EF1838}"/>
              </a:ext>
            </a:extLst>
          </p:cNvPr>
          <p:cNvSpPr/>
          <p:nvPr/>
        </p:nvSpPr>
        <p:spPr>
          <a:xfrm>
            <a:off x="71259" y="858537"/>
            <a:ext cx="900148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[1] J. May, M. </a:t>
            </a:r>
            <a:r>
              <a:rPr lang="en-US" altLang="zh-CN" sz="1400" dirty="0" err="1"/>
              <a:t>Harandi</a:t>
            </a:r>
            <a:r>
              <a:rPr lang="en-US" altLang="zh-CN" sz="1400" dirty="0"/>
              <a:t>, J. S. </a:t>
            </a:r>
            <a:r>
              <a:rPr lang="en-US" altLang="zh-CN" sz="1400" dirty="0" err="1"/>
              <a:t>Tyo</a:t>
            </a:r>
            <a:r>
              <a:rPr lang="en-US" altLang="zh-CN" sz="1400" dirty="0"/>
              <a:t>, and E. A. Ritchie, “Segmentation of non-cloud regions of tropical cyclones with </a:t>
            </a:r>
            <a:r>
              <a:rPr lang="en-US" altLang="zh-CN" sz="1400" dirty="0" err="1"/>
              <a:t>segformer</a:t>
            </a:r>
            <a:r>
              <a:rPr lang="en-US" altLang="zh-CN" sz="1400" dirty="0"/>
              <a:t>,” in IGARSS 2025 - 2025 IEEE International Geoscience and Remote Sensing Symposium, Aug. 2025, pp. 7133–7136.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10.1109/IGARSS55030.2025.11243479.</a:t>
            </a:r>
          </a:p>
          <a:p>
            <a:r>
              <a:rPr lang="en-US" altLang="zh-CN" sz="1400" dirty="0"/>
              <a:t>[2] F. </a:t>
            </a:r>
            <a:r>
              <a:rPr lang="en-US" altLang="zh-CN" sz="1400" dirty="0" err="1"/>
              <a:t>Alet</a:t>
            </a:r>
            <a:r>
              <a:rPr lang="en-US" altLang="zh-CN" sz="1400" dirty="0"/>
              <a:t> et al., “Operational tropical cyclone forecasting with AI,” Nature, Aug. 2026,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10.1038/s41586-026-10953-2.</a:t>
            </a:r>
          </a:p>
          <a:p>
            <a:r>
              <a:rPr lang="en-US" altLang="zh-CN" sz="1400" dirty="0"/>
              <a:t>[3] S. Pal, U. Das, and O. Bandyopadhyay, “SSN: A novel CNN-based architecture for classification of tropical cyclone images from INSAT-3D,” IEEE Transactions on Geoscience and Remote Sensing, vol. 62, pp. 1–8, 2024,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10.1109/TGRS.2024.3441729.</a:t>
            </a:r>
          </a:p>
          <a:p>
            <a:r>
              <a:rPr lang="en-US" altLang="zh-CN" sz="1400" dirty="0"/>
              <a:t>[4] C. Tan, “</a:t>
            </a:r>
            <a:r>
              <a:rPr lang="en-US" altLang="zh-CN" sz="1400" dirty="0" err="1"/>
              <a:t>TCLNet</a:t>
            </a:r>
            <a:r>
              <a:rPr lang="en-US" altLang="zh-CN" sz="1400" dirty="0"/>
              <a:t>: Learning to locate typhoon center using deep neural network,” in 2021 IEEE International Geoscience and Remote Sensing Symposium IGARSS, Jul. 2021, pp. 4600–4603.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10.1109/IGARSS47720.2021.9554524.</a:t>
            </a:r>
          </a:p>
          <a:p>
            <a:r>
              <a:rPr lang="en-US" altLang="zh-CN" sz="1400" dirty="0"/>
              <a:t>[5] E. Li, D. Wang, J. Li, and Y. Chen, “A novel tropical cyclone center positioning method using himawari-8 over western north pacific,” IEEE Trans. </a:t>
            </a:r>
            <a:r>
              <a:rPr lang="en-US" altLang="zh-CN" sz="1400" dirty="0" err="1"/>
              <a:t>Geosci</a:t>
            </a:r>
            <a:r>
              <a:rPr lang="en-US" altLang="zh-CN" sz="1400" dirty="0"/>
              <a:t>. Remote Sensing, vol. 62, pp. 1–15, 2024,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10.1109/TGRS.2024.3414112.</a:t>
            </a:r>
          </a:p>
          <a:p>
            <a:r>
              <a:rPr lang="en-US" altLang="zh-CN" sz="1400" dirty="0"/>
              <a:t>[6] Y. Feng et al., “SIMMKD: Simple mask-flow </a:t>
            </a:r>
            <a:r>
              <a:rPr lang="en-US" altLang="zh-CN" sz="1400" dirty="0" err="1"/>
              <a:t>keypoint</a:t>
            </a:r>
            <a:r>
              <a:rPr lang="en-US" altLang="zh-CN" sz="1400" dirty="0"/>
              <a:t> detection for both typhoon detection and typhoon eye location,” in ICASSP 2024 - 2024 IEEE International Conference on Acoustics, Speech and Signal Processing (ICASSP), Apr. 2024, pp. 5605–5609.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10.1109/ICASSP48485.2024.10448466.</a:t>
            </a:r>
          </a:p>
          <a:p>
            <a:r>
              <a:rPr lang="en-US" altLang="zh-CN" sz="1400" dirty="0"/>
              <a:t>[7] H. Qu, H. Xu, L. Dong, C. Xiang, and G. </a:t>
            </a:r>
            <a:r>
              <a:rPr lang="en-US" altLang="zh-CN" sz="1400" dirty="0" err="1"/>
              <a:t>Nie</a:t>
            </a:r>
            <a:r>
              <a:rPr lang="en-US" altLang="zh-CN" sz="1400" dirty="0"/>
              <a:t>, “Accurate tropical cyclone intensity forecasts using a non-iterative spatiotemporal transformer model,” </a:t>
            </a:r>
            <a:r>
              <a:rPr lang="en-US" altLang="zh-CN" sz="1400" dirty="0" err="1"/>
              <a:t>Npj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Clim</a:t>
            </a:r>
            <a:r>
              <a:rPr lang="en-US" altLang="zh-CN" sz="1400" dirty="0"/>
              <a:t>. Atmos. Sci., vol. 9, no. 1, p. 9, Dec. 2025,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10.1038/s41612-025-01279-3.</a:t>
            </a:r>
          </a:p>
          <a:p>
            <a:r>
              <a:rPr lang="en-US" altLang="zh-CN" sz="1400" dirty="0"/>
              <a:t>[8] Z. Ma, H. Tang, J. Lin, and D. Ma, “Facilitating </a:t>
            </a:r>
            <a:r>
              <a:rPr lang="en-US" altLang="zh-CN" sz="1400" dirty="0" err="1"/>
              <a:t>noneyed</a:t>
            </a:r>
            <a:r>
              <a:rPr lang="en-US" altLang="zh-CN" sz="1400" dirty="0"/>
              <a:t> tropical cyclone center location utilizing multiscale extraction of geopotential height and water vapor features,” IEEE Trans. </a:t>
            </a:r>
            <a:r>
              <a:rPr lang="en-US" altLang="zh-CN" sz="1400" dirty="0" err="1"/>
              <a:t>Geosci</a:t>
            </a:r>
            <a:r>
              <a:rPr lang="en-US" altLang="zh-CN" sz="1400" dirty="0"/>
              <a:t>. Remote Sens., vol. 63, pp. 1–10, 2025,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10.1109/TGRS.2025.3569753.</a:t>
            </a:r>
          </a:p>
          <a:p>
            <a:r>
              <a:rPr lang="en-US" altLang="zh-CN" sz="1400" dirty="0"/>
              <a:t>[9] A. </a:t>
            </a:r>
            <a:r>
              <a:rPr lang="en-US" altLang="zh-CN" sz="1400" dirty="0" err="1"/>
              <a:t>Kitamoto</a:t>
            </a:r>
            <a:r>
              <a:rPr lang="en-US" altLang="zh-CN" sz="1400" dirty="0"/>
              <a:t>, E. Dzik, and G. Faure, “Machine learning for the digital typhoon dataset: Extensions to multiple basins and new developments in representations and tasks,” Nov. 25, 2024, </a:t>
            </a:r>
            <a:r>
              <a:rPr lang="en-US" altLang="zh-CN" sz="1400" dirty="0" err="1"/>
              <a:t>arXiv</a:t>
            </a:r>
            <a:r>
              <a:rPr lang="en-US" altLang="zh-CN" sz="1400" dirty="0"/>
              <a:t>: arXiv:2411.16421.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10.48550/arXiv.2411.16421.</a:t>
            </a:r>
          </a:p>
          <a:p>
            <a:r>
              <a:rPr lang="en-US" altLang="zh-CN" sz="1400" dirty="0"/>
              <a:t>[10] H. Wang, Q. Xu, X. Yin, and Y. Cheng, “Determination of low-intensity tropical cyclone centers in geostationary satellite images using a physics-enhanced deep-learning model,” IEEE Trans. </a:t>
            </a:r>
            <a:r>
              <a:rPr lang="en-US" altLang="zh-CN" sz="1400" dirty="0" err="1"/>
              <a:t>Geosci</a:t>
            </a:r>
            <a:r>
              <a:rPr lang="en-US" altLang="zh-CN" sz="1400" dirty="0"/>
              <a:t>. Remote Sens., vol. 62, pp. 1–10, 2024,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10.1109/TGRS.2024.3363842.</a:t>
            </a:r>
          </a:p>
          <a:p>
            <a:r>
              <a:rPr lang="en-US" altLang="zh-CN" sz="1400" dirty="0"/>
              <a:t>[11] X. Tian, L. Yang, C. Bi, and C. Yu, “OFMAD-TC: A tropical cyclone detection method with optical flow and morphology awareness,” Neurocomputing, vol. 662, p. 131936, Jan. 2026, </a:t>
            </a:r>
            <a:r>
              <a:rPr lang="en-US" altLang="zh-CN" sz="1400" dirty="0" err="1"/>
              <a:t>doi</a:t>
            </a:r>
            <a:r>
              <a:rPr lang="en-US" altLang="zh-CN" sz="1400" dirty="0"/>
              <a:t>: 10.1016/j.neucom.2025.131936.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0552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4861</TotalTime>
  <Words>3912</Words>
  <Application>Microsoft Office PowerPoint</Application>
  <PresentationFormat>On-screen Show (4:3)</PresentationFormat>
  <Paragraphs>331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TimesNewRoman,Bold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xyj</dc:creator>
  <cp:lastModifiedBy>Windows 用户</cp:lastModifiedBy>
  <cp:revision>163</cp:revision>
  <dcterms:created xsi:type="dcterms:W3CDTF">2026-09-04T07:58:59Z</dcterms:created>
  <dcterms:modified xsi:type="dcterms:W3CDTF">2026-09-16T09:53:55Z</dcterms:modified>
</cp:coreProperties>
</file>